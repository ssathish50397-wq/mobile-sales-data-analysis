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26"/>
  </p:notesMasterIdLst>
  <p:sldIdLst>
    <p:sldId id="257" r:id="rId2"/>
    <p:sldId id="258" r:id="rId3"/>
    <p:sldId id="269" r:id="rId4"/>
    <p:sldId id="271" r:id="rId5"/>
    <p:sldId id="259" r:id="rId6"/>
    <p:sldId id="261" r:id="rId7"/>
    <p:sldId id="260" r:id="rId8"/>
    <p:sldId id="262" r:id="rId9"/>
    <p:sldId id="265" r:id="rId10"/>
    <p:sldId id="266" r:id="rId11"/>
    <p:sldId id="279" r:id="rId12"/>
    <p:sldId id="278" r:id="rId13"/>
    <p:sldId id="270" r:id="rId14"/>
    <p:sldId id="280" r:id="rId15"/>
    <p:sldId id="277" r:id="rId16"/>
    <p:sldId id="286" r:id="rId17"/>
    <p:sldId id="274" r:id="rId18"/>
    <p:sldId id="285" r:id="rId19"/>
    <p:sldId id="281" r:id="rId20"/>
    <p:sldId id="282" r:id="rId21"/>
    <p:sldId id="283" r:id="rId22"/>
    <p:sldId id="284" r:id="rId23"/>
    <p:sldId id="276" r:id="rId24"/>
    <p:sldId id="27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8B0282-EDB0-4E07-BE44-2C5C161005AE}" type="doc">
      <dgm:prSet loTypeId="urn:microsoft.com/office/officeart/2005/8/layout/cycle3" loCatId="cycle" qsTypeId="urn:microsoft.com/office/officeart/2005/8/quickstyle/3d2" qsCatId="3D" csTypeId="urn:microsoft.com/office/officeart/2005/8/colors/accent3_2" csCatId="accent3" phldr="1"/>
      <dgm:spPr/>
      <dgm:t>
        <a:bodyPr/>
        <a:lstStyle/>
        <a:p>
          <a:endParaRPr lang="en-IN"/>
        </a:p>
      </dgm:t>
    </dgm:pt>
    <dgm:pt modelId="{F5A22F69-9675-40E8-9962-406066AD2346}">
      <dgm:prSet/>
      <dgm:spPr>
        <a:xfrm>
          <a:off x="2714651" y="2382"/>
          <a:ext cx="1175516" cy="764085"/>
        </a:xfrm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gm:spPr>
      <dgm:t>
        <a:bodyPr/>
        <a:lstStyle/>
        <a:p>
          <a:pPr>
            <a:buNone/>
          </a:pPr>
          <a:r>
            <a:rPr lang="en-US" dirty="0">
              <a:latin typeface="Corbel" panose="020B0503020204020204"/>
              <a:ea typeface="+mn-ea"/>
              <a:cs typeface="+mn-cs"/>
            </a:rPr>
            <a:t> </a:t>
          </a:r>
          <a:r>
            <a:rPr lang="en-US" b="1" dirty="0">
              <a:latin typeface="Corbel" panose="020B0503020204020204"/>
              <a:ea typeface="+mn-ea"/>
              <a:cs typeface="+mn-cs"/>
            </a:rPr>
            <a:t>COLLECTION OF DATA</a:t>
          </a:r>
          <a:endParaRPr lang="en-IN" b="1" dirty="0">
            <a:latin typeface="Corbel" panose="020B0503020204020204"/>
            <a:ea typeface="+mn-ea"/>
            <a:cs typeface="+mn-cs"/>
          </a:endParaRPr>
        </a:p>
      </dgm:t>
    </dgm:pt>
    <dgm:pt modelId="{9F5CDF76-2EC5-4B2A-A9A6-8ABBF17C1C0D}" type="parTrans" cxnId="{40D9D547-F039-4DD9-BFE2-7E7209927817}">
      <dgm:prSet/>
      <dgm:spPr/>
      <dgm:t>
        <a:bodyPr/>
        <a:lstStyle/>
        <a:p>
          <a:endParaRPr lang="en-IN"/>
        </a:p>
      </dgm:t>
    </dgm:pt>
    <dgm:pt modelId="{14235892-5B57-4B0E-84DF-2D45EEE531A5}" type="sibTrans" cxnId="{40D9D547-F039-4DD9-BFE2-7E7209927817}">
      <dgm:prSet/>
      <dgm:spPr>
        <a:xfrm>
          <a:off x="1123812" y="384425"/>
          <a:ext cx="4357194" cy="4357194"/>
        </a:xfrm>
        <a:scene3d>
          <a:camera prst="orthographicFront"/>
          <a:lightRig rig="threePt" dir="t">
            <a:rot lat="0" lon="0" rev="7500000"/>
          </a:lightRig>
        </a:scene3d>
        <a:sp3d z="-40000" prstMaterial="matte"/>
      </dgm:spPr>
      <dgm:t>
        <a:bodyPr/>
        <a:lstStyle/>
        <a:p>
          <a:endParaRPr lang="en-IN"/>
        </a:p>
      </dgm:t>
    </dgm:pt>
    <dgm:pt modelId="{C2C98302-C5FD-4843-82F6-E655B6B3CB5C}">
      <dgm:prSet/>
      <dgm:spPr>
        <a:xfrm>
          <a:off x="4417947" y="822646"/>
          <a:ext cx="1175516" cy="764085"/>
        </a:xfrm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gm:spPr>
      <dgm:t>
        <a:bodyPr/>
        <a:lstStyle/>
        <a:p>
          <a:pPr>
            <a:buNone/>
          </a:pPr>
          <a:r>
            <a:rPr lang="en-US" dirty="0">
              <a:latin typeface="Corbel" panose="020B0503020204020204"/>
              <a:ea typeface="+mn-ea"/>
              <a:cs typeface="+mn-cs"/>
            </a:rPr>
            <a:t>UNDERSTANDING DATA AND BUSINESS PROBLEM</a:t>
          </a:r>
          <a:endParaRPr lang="en-IN" dirty="0">
            <a:latin typeface="Corbel" panose="020B0503020204020204"/>
            <a:ea typeface="+mn-ea"/>
            <a:cs typeface="+mn-cs"/>
          </a:endParaRPr>
        </a:p>
      </dgm:t>
    </dgm:pt>
    <dgm:pt modelId="{F0F4F4A1-4089-46DC-A84C-5215F17A691D}" type="parTrans" cxnId="{157E785A-216D-42A4-A2E2-4FDB16EE35BA}">
      <dgm:prSet/>
      <dgm:spPr/>
      <dgm:t>
        <a:bodyPr/>
        <a:lstStyle/>
        <a:p>
          <a:endParaRPr lang="en-IN"/>
        </a:p>
      </dgm:t>
    </dgm:pt>
    <dgm:pt modelId="{F07B44D1-16F9-4992-B8DB-9BD9E4344FC8}" type="sibTrans" cxnId="{157E785A-216D-42A4-A2E2-4FDB16EE35BA}">
      <dgm:prSet/>
      <dgm:spPr>
        <a:xfrm>
          <a:off x="1123812" y="384425"/>
          <a:ext cx="4357194" cy="4357194"/>
        </a:xfrm>
        <a:custGeom>
          <a:avLst/>
          <a:gdLst/>
          <a:ahLst/>
          <a:cxnLst/>
          <a:rect l="0" t="0" r="0" b="0"/>
          <a:pathLst>
            <a:path>
              <a:moveTo>
                <a:pt x="4131114" y="1212179"/>
              </a:moveTo>
              <a:arcTo wR="2178597" hR="2178597" stAng="20019986" swAng="1724791"/>
            </a:path>
          </a:pathLst>
        </a:custGeom>
        <a:scene3d>
          <a:camera prst="orthographicFront"/>
          <a:lightRig rig="threePt" dir="t">
            <a:rot lat="0" lon="0" rev="7500000"/>
          </a:lightRig>
        </a:scene3d>
        <a:sp3d z="-40000" prstMaterial="matte"/>
      </dgm:spPr>
      <dgm:t>
        <a:bodyPr/>
        <a:lstStyle/>
        <a:p>
          <a:endParaRPr lang="en-IN"/>
        </a:p>
      </dgm:t>
    </dgm:pt>
    <dgm:pt modelId="{03574317-FD3C-4C9A-BA5F-15376FDCBF75}">
      <dgm:prSet/>
      <dgm:spPr>
        <a:xfrm>
          <a:off x="4838627" y="2665763"/>
          <a:ext cx="1175516" cy="764085"/>
        </a:xfrm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gm:spPr>
      <dgm:t>
        <a:bodyPr/>
        <a:lstStyle/>
        <a:p>
          <a:pPr>
            <a:buNone/>
          </a:pPr>
          <a:r>
            <a:rPr lang="en-US" dirty="0">
              <a:latin typeface="Corbel" panose="020B0503020204020204"/>
              <a:ea typeface="+mn-ea"/>
              <a:cs typeface="+mn-cs"/>
            </a:rPr>
            <a:t> DATA CLEANING</a:t>
          </a:r>
          <a:endParaRPr lang="en-IN" dirty="0">
            <a:latin typeface="Corbel" panose="020B0503020204020204"/>
            <a:ea typeface="+mn-ea"/>
            <a:cs typeface="+mn-cs"/>
          </a:endParaRPr>
        </a:p>
      </dgm:t>
    </dgm:pt>
    <dgm:pt modelId="{7D5283B8-9006-4761-8CD4-6508A4EBD4F2}" type="parTrans" cxnId="{04E52B17-6433-481D-A410-44C9CE674B9E}">
      <dgm:prSet/>
      <dgm:spPr/>
      <dgm:t>
        <a:bodyPr/>
        <a:lstStyle/>
        <a:p>
          <a:endParaRPr lang="en-IN"/>
        </a:p>
      </dgm:t>
    </dgm:pt>
    <dgm:pt modelId="{375CC065-E402-4245-8EEB-4DD8A2BE8E0E}" type="sibTrans" cxnId="{04E52B17-6433-481D-A410-44C9CE674B9E}">
      <dgm:prSet/>
      <dgm:spPr>
        <a:xfrm>
          <a:off x="1123812" y="384425"/>
          <a:ext cx="4357194" cy="4357194"/>
        </a:xfrm>
        <a:custGeom>
          <a:avLst/>
          <a:gdLst/>
          <a:ahLst/>
          <a:cxnLst/>
          <a:rect l="0" t="0" r="0" b="0"/>
          <a:pathLst>
            <a:path>
              <a:moveTo>
                <a:pt x="4173837" y="3053411"/>
              </a:moveTo>
              <a:arcTo wR="2178597" hR="2178597" stAng="1420504" swAng="1356908"/>
            </a:path>
          </a:pathLst>
        </a:custGeom>
        <a:scene3d>
          <a:camera prst="orthographicFront"/>
          <a:lightRig rig="threePt" dir="t">
            <a:rot lat="0" lon="0" rev="7500000"/>
          </a:lightRig>
        </a:scene3d>
        <a:sp3d z="-40000" prstMaterial="matte"/>
      </dgm:spPr>
      <dgm:t>
        <a:bodyPr/>
        <a:lstStyle/>
        <a:p>
          <a:endParaRPr lang="en-IN"/>
        </a:p>
      </dgm:t>
    </dgm:pt>
    <dgm:pt modelId="{FBFDF318-9651-4E4A-837F-116AAD720CAD}">
      <dgm:prSet/>
      <dgm:spPr>
        <a:xfrm>
          <a:off x="3659909" y="4143827"/>
          <a:ext cx="1175516" cy="764085"/>
        </a:xfrm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gm:spPr>
      <dgm:t>
        <a:bodyPr/>
        <a:lstStyle/>
        <a:p>
          <a:pPr>
            <a:buNone/>
          </a:pPr>
          <a:r>
            <a:rPr lang="en-US">
              <a:latin typeface="Corbel" panose="020B0503020204020204"/>
              <a:ea typeface="+mn-ea"/>
              <a:cs typeface="+mn-cs"/>
            </a:rPr>
            <a:t> DATA TRANSFORMATON</a:t>
          </a:r>
          <a:endParaRPr lang="en-IN" dirty="0">
            <a:latin typeface="Corbel" panose="020B0503020204020204"/>
            <a:ea typeface="+mn-ea"/>
            <a:cs typeface="+mn-cs"/>
          </a:endParaRPr>
        </a:p>
      </dgm:t>
    </dgm:pt>
    <dgm:pt modelId="{A77E9D36-C044-4E2D-A6C4-1DC2CC8000B9}" type="parTrans" cxnId="{81BC2934-7D60-483C-85DE-D488B1F67683}">
      <dgm:prSet/>
      <dgm:spPr/>
      <dgm:t>
        <a:bodyPr/>
        <a:lstStyle/>
        <a:p>
          <a:endParaRPr lang="en-IN"/>
        </a:p>
      </dgm:t>
    </dgm:pt>
    <dgm:pt modelId="{DEC6BB5A-39DA-490F-85C7-D2A1F31DCB86}" type="sibTrans" cxnId="{81BC2934-7D60-483C-85DE-D488B1F67683}">
      <dgm:prSet/>
      <dgm:spPr>
        <a:xfrm>
          <a:off x="1123812" y="384425"/>
          <a:ext cx="4357194" cy="4357194"/>
        </a:xfrm>
        <a:custGeom>
          <a:avLst/>
          <a:gdLst/>
          <a:ahLst/>
          <a:cxnLst/>
          <a:rect l="0" t="0" r="0" b="0"/>
          <a:pathLst>
            <a:path>
              <a:moveTo>
                <a:pt x="2529041" y="4328823"/>
              </a:moveTo>
              <a:arcTo wR="2178597" hR="2178597" stAng="4844598" swAng="1110804"/>
            </a:path>
          </a:pathLst>
        </a:custGeom>
        <a:scene3d>
          <a:camera prst="orthographicFront"/>
          <a:lightRig rig="threePt" dir="t">
            <a:rot lat="0" lon="0" rev="7500000"/>
          </a:lightRig>
        </a:scene3d>
        <a:sp3d z="-40000" prstMaterial="matte"/>
      </dgm:spPr>
      <dgm:t>
        <a:bodyPr/>
        <a:lstStyle/>
        <a:p>
          <a:endParaRPr lang="en-IN"/>
        </a:p>
      </dgm:t>
    </dgm:pt>
    <dgm:pt modelId="{144B2EF6-9AFB-49F2-AA49-A2DB9AFB3D8B}">
      <dgm:prSet/>
      <dgm:spPr>
        <a:xfrm>
          <a:off x="590676" y="2665763"/>
          <a:ext cx="1175516" cy="764085"/>
        </a:xfrm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gm:spPr>
      <dgm:t>
        <a:bodyPr/>
        <a:lstStyle/>
        <a:p>
          <a:pPr>
            <a:buNone/>
          </a:pPr>
          <a:r>
            <a:rPr lang="en-US">
              <a:latin typeface="Corbel" panose="020B0503020204020204"/>
              <a:ea typeface="+mn-ea"/>
              <a:cs typeface="+mn-cs"/>
            </a:rPr>
            <a:t> DATA VISUALIZATION</a:t>
          </a:r>
          <a:endParaRPr lang="en-IN" dirty="0">
            <a:latin typeface="Corbel" panose="020B0503020204020204"/>
            <a:ea typeface="+mn-ea"/>
            <a:cs typeface="+mn-cs"/>
          </a:endParaRPr>
        </a:p>
      </dgm:t>
    </dgm:pt>
    <dgm:pt modelId="{D6C142B6-6F9B-4427-AC22-345EAFF771F1}" type="parTrans" cxnId="{D1F2033F-7ADF-409B-8D71-67D383F1E6E7}">
      <dgm:prSet/>
      <dgm:spPr/>
      <dgm:t>
        <a:bodyPr/>
        <a:lstStyle/>
        <a:p>
          <a:endParaRPr lang="en-IN"/>
        </a:p>
      </dgm:t>
    </dgm:pt>
    <dgm:pt modelId="{B28A774B-E3F9-453E-AB39-15170E585031}" type="sibTrans" cxnId="{D1F2033F-7ADF-409B-8D71-67D383F1E6E7}">
      <dgm:prSet/>
      <dgm:spPr>
        <a:xfrm>
          <a:off x="1123812" y="384425"/>
          <a:ext cx="4357194" cy="4357194"/>
        </a:xfrm>
        <a:custGeom>
          <a:avLst/>
          <a:gdLst/>
          <a:ahLst/>
          <a:cxnLst/>
          <a:rect l="0" t="0" r="0" b="0"/>
          <a:pathLst>
            <a:path>
              <a:moveTo>
                <a:pt x="1931" y="2270319"/>
              </a:moveTo>
              <a:arcTo wR="2178597" hR="2178597" stAng="10655223" swAng="1724791"/>
            </a:path>
          </a:pathLst>
        </a:custGeom>
        <a:scene3d>
          <a:camera prst="orthographicFront"/>
          <a:lightRig rig="threePt" dir="t">
            <a:rot lat="0" lon="0" rev="7500000"/>
          </a:lightRig>
        </a:scene3d>
        <a:sp3d z="-40000" prstMaterial="matte"/>
      </dgm:spPr>
      <dgm:t>
        <a:bodyPr/>
        <a:lstStyle/>
        <a:p>
          <a:endParaRPr lang="en-IN"/>
        </a:p>
      </dgm:t>
    </dgm:pt>
    <dgm:pt modelId="{8B7E3CB0-3136-4862-AED9-8FEF0EAD1412}">
      <dgm:prSet/>
      <dgm:spPr>
        <a:xfrm>
          <a:off x="1011356" y="822646"/>
          <a:ext cx="1175516" cy="764085"/>
        </a:xfrm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gm:spPr>
      <dgm:t>
        <a:bodyPr/>
        <a:lstStyle/>
        <a:p>
          <a:pPr>
            <a:buNone/>
          </a:pPr>
          <a:r>
            <a:rPr lang="en-US">
              <a:latin typeface="Corbel" panose="020B0503020204020204"/>
              <a:ea typeface="+mn-ea"/>
              <a:cs typeface="+mn-cs"/>
            </a:rPr>
            <a:t> PRESENT FINAL INSIGHTS</a:t>
          </a:r>
          <a:endParaRPr lang="en-IN" dirty="0">
            <a:latin typeface="Corbel" panose="020B0503020204020204"/>
            <a:ea typeface="+mn-ea"/>
            <a:cs typeface="+mn-cs"/>
          </a:endParaRPr>
        </a:p>
      </dgm:t>
    </dgm:pt>
    <dgm:pt modelId="{5C921E8C-9AC3-4332-ACDB-05D691712702}" type="parTrans" cxnId="{C3255704-2E7C-4D0E-987A-6C82523B24C5}">
      <dgm:prSet/>
      <dgm:spPr/>
      <dgm:t>
        <a:bodyPr/>
        <a:lstStyle/>
        <a:p>
          <a:endParaRPr lang="en-IN"/>
        </a:p>
      </dgm:t>
    </dgm:pt>
    <dgm:pt modelId="{E23E7EAB-037E-45CC-8FEE-399E6E005755}" type="sibTrans" cxnId="{C3255704-2E7C-4D0E-987A-6C82523B24C5}">
      <dgm:prSet/>
      <dgm:spPr>
        <a:xfrm>
          <a:off x="1123812" y="384425"/>
          <a:ext cx="4357194" cy="4357194"/>
        </a:xfrm>
        <a:custGeom>
          <a:avLst/>
          <a:gdLst/>
          <a:ahLst/>
          <a:cxnLst/>
          <a:rect l="0" t="0" r="0" b="0"/>
          <a:pathLst>
            <a:path>
              <a:moveTo>
                <a:pt x="874559" y="433383"/>
              </a:moveTo>
              <a:arcTo wR="2178597" hR="2178597" stAng="13993958" swAng="1254223"/>
            </a:path>
          </a:pathLst>
        </a:custGeom>
        <a:scene3d>
          <a:camera prst="orthographicFront"/>
          <a:lightRig rig="threePt" dir="t">
            <a:rot lat="0" lon="0" rev="7500000"/>
          </a:lightRig>
        </a:scene3d>
        <a:sp3d z="-40000" prstMaterial="matte"/>
      </dgm:spPr>
      <dgm:t>
        <a:bodyPr/>
        <a:lstStyle/>
        <a:p>
          <a:endParaRPr lang="en-IN"/>
        </a:p>
      </dgm:t>
    </dgm:pt>
    <dgm:pt modelId="{87F985AB-512B-4256-AA7D-25392BA2304A}" type="pres">
      <dgm:prSet presAssocID="{418B0282-EDB0-4E07-BE44-2C5C161005AE}" presName="Name0" presStyleCnt="0">
        <dgm:presLayoutVars>
          <dgm:dir/>
          <dgm:resizeHandles val="exact"/>
        </dgm:presLayoutVars>
      </dgm:prSet>
      <dgm:spPr/>
    </dgm:pt>
    <dgm:pt modelId="{627C472A-55A5-4090-B7FF-42D4D5D9EAE2}" type="pres">
      <dgm:prSet presAssocID="{418B0282-EDB0-4E07-BE44-2C5C161005AE}" presName="cycle" presStyleCnt="0"/>
      <dgm:spPr/>
    </dgm:pt>
    <dgm:pt modelId="{7B24BA0C-83A7-4CA9-B6DF-F11800BA0DE5}" type="pres">
      <dgm:prSet presAssocID="{F5A22F69-9675-40E8-9962-406066AD2346}" presName="nodeFirstNode" presStyleLbl="node1" presStyleIdx="0" presStyleCnt="6">
        <dgm:presLayoutVars>
          <dgm:bulletEnabled val="1"/>
        </dgm:presLayoutVars>
      </dgm:prSet>
      <dgm:spPr>
        <a:prstGeom prst="roundRect">
          <a:avLst/>
        </a:prstGeom>
      </dgm:spPr>
    </dgm:pt>
    <dgm:pt modelId="{3E50D7CE-CC7B-4C3A-AE0C-96ED3D1B09ED}" type="pres">
      <dgm:prSet presAssocID="{14235892-5B57-4B0E-84DF-2D45EEE531A5}" presName="sibTransFirstNode" presStyleLbl="bgShp" presStyleIdx="0" presStyleCnt="1"/>
      <dgm:spPr>
        <a:custGeom>
          <a:avLst/>
          <a:gdLst/>
          <a:ahLst/>
          <a:cxnLst/>
          <a:rect l="0" t="0" r="0" b="0"/>
          <a:pathLst>
            <a:path>
              <a:moveTo>
                <a:pt x="2774115" y="82972"/>
              </a:moveTo>
              <a:arcTo wR="2178597" hR="2178597" stAng="17151820" swAng="1254223"/>
            </a:path>
          </a:pathLst>
        </a:custGeom>
      </dgm:spPr>
    </dgm:pt>
    <dgm:pt modelId="{8A6A5AB7-6314-46D5-9DF2-612D8E0CEDDF}" type="pres">
      <dgm:prSet presAssocID="{C2C98302-C5FD-4843-82F6-E655B6B3CB5C}" presName="nodeFollowingNodes" presStyleLbl="node1" presStyleIdx="1" presStyleCnt="6">
        <dgm:presLayoutVars>
          <dgm:bulletEnabled val="1"/>
        </dgm:presLayoutVars>
      </dgm:prSet>
      <dgm:spPr>
        <a:prstGeom prst="roundRect">
          <a:avLst/>
        </a:prstGeom>
      </dgm:spPr>
    </dgm:pt>
    <dgm:pt modelId="{85722213-2BB8-4881-B80F-524D47E1BC99}" type="pres">
      <dgm:prSet presAssocID="{03574317-FD3C-4C9A-BA5F-15376FDCBF75}" presName="nodeFollowingNodes" presStyleLbl="node1" presStyleIdx="2" presStyleCnt="6">
        <dgm:presLayoutVars>
          <dgm:bulletEnabled val="1"/>
        </dgm:presLayoutVars>
      </dgm:prSet>
      <dgm:spPr>
        <a:prstGeom prst="roundRect">
          <a:avLst/>
        </a:prstGeom>
      </dgm:spPr>
    </dgm:pt>
    <dgm:pt modelId="{AC33A658-468C-45D3-9ED8-1FBA85F557C7}" type="pres">
      <dgm:prSet presAssocID="{FBFDF318-9651-4E4A-837F-116AAD720CAD}" presName="nodeFollowingNodes" presStyleLbl="node1" presStyleIdx="3" presStyleCnt="6">
        <dgm:presLayoutVars>
          <dgm:bulletEnabled val="1"/>
        </dgm:presLayoutVars>
      </dgm:prSet>
      <dgm:spPr>
        <a:prstGeom prst="roundRect">
          <a:avLst/>
        </a:prstGeom>
      </dgm:spPr>
    </dgm:pt>
    <dgm:pt modelId="{D4AB82A9-4172-4231-80C9-5B03B75090F9}" type="pres">
      <dgm:prSet presAssocID="{144B2EF6-9AFB-49F2-AA49-A2DB9AFB3D8B}" presName="nodeFollowingNodes" presStyleLbl="node1" presStyleIdx="4" presStyleCnt="6">
        <dgm:presLayoutVars>
          <dgm:bulletEnabled val="1"/>
        </dgm:presLayoutVars>
      </dgm:prSet>
      <dgm:spPr>
        <a:prstGeom prst="roundRect">
          <a:avLst/>
        </a:prstGeom>
      </dgm:spPr>
    </dgm:pt>
    <dgm:pt modelId="{FDC511E0-3674-49FE-BFDF-C8454F4736DD}" type="pres">
      <dgm:prSet presAssocID="{8B7E3CB0-3136-4862-AED9-8FEF0EAD1412}" presName="nodeFollowingNodes" presStyleLbl="node1" presStyleIdx="5" presStyleCnt="6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F44E1400-C770-430F-AC8C-04C7F6A526FE}" type="presOf" srcId="{144B2EF6-9AFB-49F2-AA49-A2DB9AFB3D8B}" destId="{D4AB82A9-4172-4231-80C9-5B03B75090F9}" srcOrd="0" destOrd="0" presId="urn:microsoft.com/office/officeart/2005/8/layout/cycle3"/>
    <dgm:cxn modelId="{C3255704-2E7C-4D0E-987A-6C82523B24C5}" srcId="{418B0282-EDB0-4E07-BE44-2C5C161005AE}" destId="{8B7E3CB0-3136-4862-AED9-8FEF0EAD1412}" srcOrd="5" destOrd="0" parTransId="{5C921E8C-9AC3-4332-ACDB-05D691712702}" sibTransId="{E23E7EAB-037E-45CC-8FEE-399E6E005755}"/>
    <dgm:cxn modelId="{04E52B17-6433-481D-A410-44C9CE674B9E}" srcId="{418B0282-EDB0-4E07-BE44-2C5C161005AE}" destId="{03574317-FD3C-4C9A-BA5F-15376FDCBF75}" srcOrd="2" destOrd="0" parTransId="{7D5283B8-9006-4761-8CD4-6508A4EBD4F2}" sibTransId="{375CC065-E402-4245-8EEB-4DD8A2BE8E0E}"/>
    <dgm:cxn modelId="{BC771C25-0B8E-428B-BF6F-E1B7FDF1FE74}" type="presOf" srcId="{14235892-5B57-4B0E-84DF-2D45EEE531A5}" destId="{3E50D7CE-CC7B-4C3A-AE0C-96ED3D1B09ED}" srcOrd="0" destOrd="0" presId="urn:microsoft.com/office/officeart/2005/8/layout/cycle3"/>
    <dgm:cxn modelId="{81BC2934-7D60-483C-85DE-D488B1F67683}" srcId="{418B0282-EDB0-4E07-BE44-2C5C161005AE}" destId="{FBFDF318-9651-4E4A-837F-116AAD720CAD}" srcOrd="3" destOrd="0" parTransId="{A77E9D36-C044-4E2D-A6C4-1DC2CC8000B9}" sibTransId="{DEC6BB5A-39DA-490F-85C7-D2A1F31DCB86}"/>
    <dgm:cxn modelId="{D1F2033F-7ADF-409B-8D71-67D383F1E6E7}" srcId="{418B0282-EDB0-4E07-BE44-2C5C161005AE}" destId="{144B2EF6-9AFB-49F2-AA49-A2DB9AFB3D8B}" srcOrd="4" destOrd="0" parTransId="{D6C142B6-6F9B-4427-AC22-345EAFF771F1}" sibTransId="{B28A774B-E3F9-453E-AB39-15170E585031}"/>
    <dgm:cxn modelId="{F8535345-9AB4-4AFD-9DFC-D002EC250135}" type="presOf" srcId="{F5A22F69-9675-40E8-9962-406066AD2346}" destId="{7B24BA0C-83A7-4CA9-B6DF-F11800BA0DE5}" srcOrd="0" destOrd="0" presId="urn:microsoft.com/office/officeart/2005/8/layout/cycle3"/>
    <dgm:cxn modelId="{40D9D547-F039-4DD9-BFE2-7E7209927817}" srcId="{418B0282-EDB0-4E07-BE44-2C5C161005AE}" destId="{F5A22F69-9675-40E8-9962-406066AD2346}" srcOrd="0" destOrd="0" parTransId="{9F5CDF76-2EC5-4B2A-A9A6-8ABBF17C1C0D}" sibTransId="{14235892-5B57-4B0E-84DF-2D45EEE531A5}"/>
    <dgm:cxn modelId="{157E785A-216D-42A4-A2E2-4FDB16EE35BA}" srcId="{418B0282-EDB0-4E07-BE44-2C5C161005AE}" destId="{C2C98302-C5FD-4843-82F6-E655B6B3CB5C}" srcOrd="1" destOrd="0" parTransId="{F0F4F4A1-4089-46DC-A84C-5215F17A691D}" sibTransId="{F07B44D1-16F9-4992-B8DB-9BD9E4344FC8}"/>
    <dgm:cxn modelId="{694BA885-128D-4302-AF8A-8CB9E50FC8FB}" type="presOf" srcId="{03574317-FD3C-4C9A-BA5F-15376FDCBF75}" destId="{85722213-2BB8-4881-B80F-524D47E1BC99}" srcOrd="0" destOrd="0" presId="urn:microsoft.com/office/officeart/2005/8/layout/cycle3"/>
    <dgm:cxn modelId="{30C5258A-C4F3-43B1-9981-28800DB28738}" type="presOf" srcId="{FBFDF318-9651-4E4A-837F-116AAD720CAD}" destId="{AC33A658-468C-45D3-9ED8-1FBA85F557C7}" srcOrd="0" destOrd="0" presId="urn:microsoft.com/office/officeart/2005/8/layout/cycle3"/>
    <dgm:cxn modelId="{6A1889D0-0773-4DF1-ACDB-033F5BB00659}" type="presOf" srcId="{418B0282-EDB0-4E07-BE44-2C5C161005AE}" destId="{87F985AB-512B-4256-AA7D-25392BA2304A}" srcOrd="0" destOrd="0" presId="urn:microsoft.com/office/officeart/2005/8/layout/cycle3"/>
    <dgm:cxn modelId="{4C557BDF-3D1D-4F53-BE91-4C7D55B4B4E9}" type="presOf" srcId="{8B7E3CB0-3136-4862-AED9-8FEF0EAD1412}" destId="{FDC511E0-3674-49FE-BFDF-C8454F4736DD}" srcOrd="0" destOrd="0" presId="urn:microsoft.com/office/officeart/2005/8/layout/cycle3"/>
    <dgm:cxn modelId="{B10813EB-983B-41CA-A26B-FCCB0C84828C}" type="presOf" srcId="{C2C98302-C5FD-4843-82F6-E655B6B3CB5C}" destId="{8A6A5AB7-6314-46D5-9DF2-612D8E0CEDDF}" srcOrd="0" destOrd="0" presId="urn:microsoft.com/office/officeart/2005/8/layout/cycle3"/>
    <dgm:cxn modelId="{3A594989-7F96-4E94-942A-04A4810006F0}" type="presParOf" srcId="{87F985AB-512B-4256-AA7D-25392BA2304A}" destId="{627C472A-55A5-4090-B7FF-42D4D5D9EAE2}" srcOrd="0" destOrd="0" presId="urn:microsoft.com/office/officeart/2005/8/layout/cycle3"/>
    <dgm:cxn modelId="{73C03215-99B6-4F3F-82D4-1B38AB668DF3}" type="presParOf" srcId="{627C472A-55A5-4090-B7FF-42D4D5D9EAE2}" destId="{7B24BA0C-83A7-4CA9-B6DF-F11800BA0DE5}" srcOrd="0" destOrd="0" presId="urn:microsoft.com/office/officeart/2005/8/layout/cycle3"/>
    <dgm:cxn modelId="{CAA4012E-EAC7-4046-AAE4-32BCE5A26083}" type="presParOf" srcId="{627C472A-55A5-4090-B7FF-42D4D5D9EAE2}" destId="{3E50D7CE-CC7B-4C3A-AE0C-96ED3D1B09ED}" srcOrd="1" destOrd="0" presId="urn:microsoft.com/office/officeart/2005/8/layout/cycle3"/>
    <dgm:cxn modelId="{14421E4D-DE49-4E66-A228-ED68BFE23A14}" type="presParOf" srcId="{627C472A-55A5-4090-B7FF-42D4D5D9EAE2}" destId="{8A6A5AB7-6314-46D5-9DF2-612D8E0CEDDF}" srcOrd="2" destOrd="0" presId="urn:microsoft.com/office/officeart/2005/8/layout/cycle3"/>
    <dgm:cxn modelId="{57646FCE-01C6-4D0E-8071-5D5D45BC3C3F}" type="presParOf" srcId="{627C472A-55A5-4090-B7FF-42D4D5D9EAE2}" destId="{85722213-2BB8-4881-B80F-524D47E1BC99}" srcOrd="3" destOrd="0" presId="urn:microsoft.com/office/officeart/2005/8/layout/cycle3"/>
    <dgm:cxn modelId="{47D0550A-5AC8-432E-ABA6-C109A5E38BF9}" type="presParOf" srcId="{627C472A-55A5-4090-B7FF-42D4D5D9EAE2}" destId="{AC33A658-468C-45D3-9ED8-1FBA85F557C7}" srcOrd="4" destOrd="0" presId="urn:microsoft.com/office/officeart/2005/8/layout/cycle3"/>
    <dgm:cxn modelId="{F74332A9-FEA2-48AD-A023-BA60878C5365}" type="presParOf" srcId="{627C472A-55A5-4090-B7FF-42D4D5D9EAE2}" destId="{D4AB82A9-4172-4231-80C9-5B03B75090F9}" srcOrd="5" destOrd="0" presId="urn:microsoft.com/office/officeart/2005/8/layout/cycle3"/>
    <dgm:cxn modelId="{D9880CF8-D87C-415C-9FAA-1808DF4F21A1}" type="presParOf" srcId="{627C472A-55A5-4090-B7FF-42D4D5D9EAE2}" destId="{FDC511E0-3674-49FE-BFDF-C8454F4736DD}" srcOrd="6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50D7CE-CC7B-4C3A-AE0C-96ED3D1B09ED}">
      <dsp:nvSpPr>
        <dsp:cNvPr id="0" name=""/>
        <dsp:cNvSpPr/>
      </dsp:nvSpPr>
      <dsp:spPr>
        <a:xfrm>
          <a:off x="1245310" y="-4796"/>
          <a:ext cx="4903643" cy="4903643"/>
        </a:xfrm>
        <a:custGeom>
          <a:avLst/>
          <a:gdLst/>
          <a:ahLst/>
          <a:cxnLst/>
          <a:rect l="0" t="0" r="0" b="0"/>
          <a:pathLst>
            <a:path>
              <a:moveTo>
                <a:pt x="2774115" y="82972"/>
              </a:moveTo>
              <a:arcTo wR="2178597" hR="2178597" stAng="17151820" swAng="1254223"/>
            </a:path>
          </a:pathLst>
        </a:custGeom>
        <a:gradFill rotWithShape="0">
          <a:gsLst>
            <a:gs pos="0">
              <a:schemeClr val="accent3">
                <a:tint val="40000"/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tint val="40000"/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7B24BA0C-83A7-4CA9-B6DF-F11800BA0DE5}">
      <dsp:nvSpPr>
        <dsp:cNvPr id="0" name=""/>
        <dsp:cNvSpPr/>
      </dsp:nvSpPr>
      <dsp:spPr>
        <a:xfrm>
          <a:off x="2771043" y="1369"/>
          <a:ext cx="1852176" cy="92608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orbel" panose="020B0503020204020204"/>
              <a:ea typeface="+mn-ea"/>
              <a:cs typeface="+mn-cs"/>
            </a:rPr>
            <a:t> </a:t>
          </a:r>
          <a:r>
            <a:rPr lang="en-US" sz="1400" b="1" kern="1200" dirty="0">
              <a:latin typeface="Corbel" panose="020B0503020204020204"/>
              <a:ea typeface="+mn-ea"/>
              <a:cs typeface="+mn-cs"/>
            </a:rPr>
            <a:t>COLLECTION OF DATA</a:t>
          </a:r>
          <a:endParaRPr lang="en-IN" sz="1400" b="1" kern="1200" dirty="0">
            <a:latin typeface="Corbel" panose="020B0503020204020204"/>
            <a:ea typeface="+mn-ea"/>
            <a:cs typeface="+mn-cs"/>
          </a:endParaRPr>
        </a:p>
      </dsp:txBody>
      <dsp:txXfrm>
        <a:off x="2816251" y="46577"/>
        <a:ext cx="1761760" cy="835672"/>
      </dsp:txXfrm>
    </dsp:sp>
    <dsp:sp modelId="{8A6A5AB7-6314-46D5-9DF2-612D8E0CEDDF}">
      <dsp:nvSpPr>
        <dsp:cNvPr id="0" name=""/>
        <dsp:cNvSpPr/>
      </dsp:nvSpPr>
      <dsp:spPr>
        <a:xfrm>
          <a:off x="4493834" y="996023"/>
          <a:ext cx="1852176" cy="92608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orbel" panose="020B0503020204020204"/>
              <a:ea typeface="+mn-ea"/>
              <a:cs typeface="+mn-cs"/>
            </a:rPr>
            <a:t>UNDERSTANDING DATA AND BUSINESS PROBLEM</a:t>
          </a:r>
          <a:endParaRPr lang="en-IN" sz="1400" kern="1200" dirty="0">
            <a:latin typeface="Corbel" panose="020B0503020204020204"/>
            <a:ea typeface="+mn-ea"/>
            <a:cs typeface="+mn-cs"/>
          </a:endParaRPr>
        </a:p>
      </dsp:txBody>
      <dsp:txXfrm>
        <a:off x="4539042" y="1041231"/>
        <a:ext cx="1761760" cy="835672"/>
      </dsp:txXfrm>
    </dsp:sp>
    <dsp:sp modelId="{85722213-2BB8-4881-B80F-524D47E1BC99}">
      <dsp:nvSpPr>
        <dsp:cNvPr id="0" name=""/>
        <dsp:cNvSpPr/>
      </dsp:nvSpPr>
      <dsp:spPr>
        <a:xfrm>
          <a:off x="4493834" y="2985330"/>
          <a:ext cx="1852176" cy="92608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orbel" panose="020B0503020204020204"/>
              <a:ea typeface="+mn-ea"/>
              <a:cs typeface="+mn-cs"/>
            </a:rPr>
            <a:t> DATA CLEANING</a:t>
          </a:r>
          <a:endParaRPr lang="en-IN" sz="1400" kern="1200" dirty="0">
            <a:latin typeface="Corbel" panose="020B0503020204020204"/>
            <a:ea typeface="+mn-ea"/>
            <a:cs typeface="+mn-cs"/>
          </a:endParaRPr>
        </a:p>
      </dsp:txBody>
      <dsp:txXfrm>
        <a:off x="4539042" y="3030538"/>
        <a:ext cx="1761760" cy="835672"/>
      </dsp:txXfrm>
    </dsp:sp>
    <dsp:sp modelId="{AC33A658-468C-45D3-9ED8-1FBA85F557C7}">
      <dsp:nvSpPr>
        <dsp:cNvPr id="0" name=""/>
        <dsp:cNvSpPr/>
      </dsp:nvSpPr>
      <dsp:spPr>
        <a:xfrm>
          <a:off x="2771043" y="3979984"/>
          <a:ext cx="1852176" cy="92608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orbel" panose="020B0503020204020204"/>
              <a:ea typeface="+mn-ea"/>
              <a:cs typeface="+mn-cs"/>
            </a:rPr>
            <a:t> DATA TRANSFORMATON</a:t>
          </a:r>
          <a:endParaRPr lang="en-IN" sz="1400" kern="1200" dirty="0">
            <a:latin typeface="Corbel" panose="020B0503020204020204"/>
            <a:ea typeface="+mn-ea"/>
            <a:cs typeface="+mn-cs"/>
          </a:endParaRPr>
        </a:p>
      </dsp:txBody>
      <dsp:txXfrm>
        <a:off x="2816251" y="4025192"/>
        <a:ext cx="1761760" cy="835672"/>
      </dsp:txXfrm>
    </dsp:sp>
    <dsp:sp modelId="{D4AB82A9-4172-4231-80C9-5B03B75090F9}">
      <dsp:nvSpPr>
        <dsp:cNvPr id="0" name=""/>
        <dsp:cNvSpPr/>
      </dsp:nvSpPr>
      <dsp:spPr>
        <a:xfrm>
          <a:off x="1048252" y="2985330"/>
          <a:ext cx="1852176" cy="92608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orbel" panose="020B0503020204020204"/>
              <a:ea typeface="+mn-ea"/>
              <a:cs typeface="+mn-cs"/>
            </a:rPr>
            <a:t> DATA VISUALIZATION</a:t>
          </a:r>
          <a:endParaRPr lang="en-IN" sz="1400" kern="1200" dirty="0">
            <a:latin typeface="Corbel" panose="020B0503020204020204"/>
            <a:ea typeface="+mn-ea"/>
            <a:cs typeface="+mn-cs"/>
          </a:endParaRPr>
        </a:p>
      </dsp:txBody>
      <dsp:txXfrm>
        <a:off x="1093460" y="3030538"/>
        <a:ext cx="1761760" cy="835672"/>
      </dsp:txXfrm>
    </dsp:sp>
    <dsp:sp modelId="{FDC511E0-3674-49FE-BFDF-C8454F4736DD}">
      <dsp:nvSpPr>
        <dsp:cNvPr id="0" name=""/>
        <dsp:cNvSpPr/>
      </dsp:nvSpPr>
      <dsp:spPr>
        <a:xfrm>
          <a:off x="1048252" y="996023"/>
          <a:ext cx="1852176" cy="92608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orbel" panose="020B0503020204020204"/>
              <a:ea typeface="+mn-ea"/>
              <a:cs typeface="+mn-cs"/>
            </a:rPr>
            <a:t> PRESENT FINAL INSIGHTS</a:t>
          </a:r>
          <a:endParaRPr lang="en-IN" sz="1400" kern="1200" dirty="0">
            <a:latin typeface="Corbel" panose="020B0503020204020204"/>
            <a:ea typeface="+mn-ea"/>
            <a:cs typeface="+mn-cs"/>
          </a:endParaRPr>
        </a:p>
      </dsp:txBody>
      <dsp:txXfrm>
        <a:off x="1093460" y="1041231"/>
        <a:ext cx="1761760" cy="835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60390-B1D7-47D3-91CB-60FFA213ACE1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DA6BB-2075-4F31-82CD-9A9C8C346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012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DA6BB-2075-4F31-82CD-9A9C8C346AE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978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4F5CC-6EAE-98E7-D98B-B86AACC52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5C9B0F-DB0A-B58E-AEA9-8151FF074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F2BF9-89CA-BB3B-4574-FD9928C85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D6440-CEC6-EBEB-9276-BD29147F61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DA6BB-2075-4F31-82CD-9A9C8C346AE8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756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305-84E1-41AB-ADD4-111C598A71C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0FD32C6-D1A2-4E0F-86E6-835081CE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354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305-84E1-41AB-ADD4-111C598A71C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32C6-D1A2-4E0F-86E6-835081CE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466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305-84E1-41AB-ADD4-111C598A71C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0FD32C6-D1A2-4E0F-86E6-835081CE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897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305-84E1-41AB-ADD4-111C598A71C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0FD32C6-D1A2-4E0F-86E6-835081CE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697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305-84E1-41AB-ADD4-111C598A71C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0FD32C6-D1A2-4E0F-86E6-835081CE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95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305-84E1-41AB-ADD4-111C598A71C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32C6-D1A2-4E0F-86E6-835081CE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14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305-84E1-41AB-ADD4-111C598A71C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32C6-D1A2-4E0F-86E6-835081CE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170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305-84E1-41AB-ADD4-111C598A71C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32C6-D1A2-4E0F-86E6-835081CE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207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305-84E1-41AB-ADD4-111C598A71C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FD32C6-D1A2-4E0F-86E6-835081CE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972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305-84E1-41AB-ADD4-111C598A71C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0FD32C6-D1A2-4E0F-86E6-835081CE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50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305-84E1-41AB-ADD4-111C598A71C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0FD32C6-D1A2-4E0F-86E6-835081CE739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1547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305-84E1-41AB-ADD4-111C598A71C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FD32C6-D1A2-4E0F-86E6-835081CE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389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305-84E1-41AB-ADD4-111C598A71C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FD32C6-D1A2-4E0F-86E6-835081CE739B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00699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305-84E1-41AB-ADD4-111C598A71C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FD32C6-D1A2-4E0F-86E6-835081CE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114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305-84E1-41AB-ADD4-111C598A71C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32C6-D1A2-4E0F-86E6-835081CE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262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8305-84E1-41AB-ADD4-111C598A71C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32C6-D1A2-4E0F-86E6-835081CE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382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D8305-84E1-41AB-ADD4-111C598A71C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0FD32C6-D1A2-4E0F-86E6-835081CE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67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29384D-07CE-E643-E8AF-FD0634636D75}"/>
              </a:ext>
            </a:extLst>
          </p:cNvPr>
          <p:cNvSpPr txBox="1"/>
          <p:nvPr/>
        </p:nvSpPr>
        <p:spPr>
          <a:xfrm>
            <a:off x="2308485" y="2083633"/>
            <a:ext cx="88441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Arial Black" panose="020B0A04020102020204" pitchFamily="34" charset="0"/>
              </a:rPr>
              <a:t>MOBILE SALES DATA  ANALYSIS</a:t>
            </a:r>
          </a:p>
          <a:p>
            <a:r>
              <a:rPr lang="en-IN" sz="3600" dirty="0">
                <a:latin typeface="Arial Black" panose="020B0A04020102020204" pitchFamily="34" charset="0"/>
              </a:rPr>
              <a:t>                      -2025</a:t>
            </a:r>
          </a:p>
          <a:p>
            <a:endParaRPr lang="en-IN" sz="3600" dirty="0">
              <a:latin typeface="Arial Black" panose="020B0A04020102020204" pitchFamily="34" charset="0"/>
            </a:endParaRPr>
          </a:p>
          <a:p>
            <a:r>
              <a:rPr lang="en-IN" sz="3600" dirty="0">
                <a:latin typeface="Arial Black" panose="020B0A04020102020204" pitchFamily="34" charset="0"/>
              </a:rPr>
              <a:t>   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872613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2DF52-21B6-A923-B328-AA06BCDA2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028" y="1988215"/>
            <a:ext cx="8911687" cy="545123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Arial Black" panose="020B0A04020102020204" pitchFamily="34" charset="0"/>
              </a:rPr>
              <a:t>DESCRIPTION ABOUT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7A6B7-AA68-28DD-0E57-EE1AABAA2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8878" y="2868742"/>
            <a:ext cx="8915400" cy="1120515"/>
          </a:xfrm>
        </p:spPr>
        <p:txBody>
          <a:bodyPr anchor="t"/>
          <a:lstStyle/>
          <a:p>
            <a:r>
              <a:rPr lang="en-US" dirty="0"/>
              <a:t>Mobile industry is rapidly growing.</a:t>
            </a:r>
          </a:p>
          <a:p>
            <a:r>
              <a:rPr lang="en-US" dirty="0"/>
              <a:t>This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project</a:t>
            </a:r>
            <a:r>
              <a:rPr lang="en-US" dirty="0"/>
              <a:t> analyzes sales data to understand brand performance, revenue trends, and customer behavior.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9098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D17BF-7D67-5E11-F77C-18AEC94CE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6638" y="2788555"/>
            <a:ext cx="8911687" cy="640445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Arial Black" panose="020B0A04020102020204" pitchFamily="34" charset="0"/>
              </a:rPr>
              <a:t>REVENUE ANALYSIS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EB9B3D-4ACA-2D21-F000-0E7E419F3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6600" y="3678836"/>
            <a:ext cx="9165236" cy="2362199"/>
          </a:xfrm>
        </p:spPr>
        <p:txBody>
          <a:bodyPr/>
          <a:lstStyle/>
          <a:p>
            <a:r>
              <a:rPr dirty="0"/>
              <a:t>Calculated total revenue, average revenue, and maximum revenue</a:t>
            </a:r>
          </a:p>
          <a:p>
            <a:r>
              <a:rPr dirty="0"/>
              <a:t>Helps evaluate business performance</a:t>
            </a:r>
            <a:endParaRPr lang="en-IN" dirty="0"/>
          </a:p>
          <a:p>
            <a:r>
              <a:rPr lang="en-IN" dirty="0"/>
              <a:t>Total revenue 4639641</a:t>
            </a:r>
          </a:p>
          <a:p>
            <a:r>
              <a:rPr lang="en-IN" dirty="0"/>
              <a:t>Average revenue 9279.282</a:t>
            </a:r>
          </a:p>
          <a:p>
            <a:r>
              <a:rPr lang="en-IN" dirty="0"/>
              <a:t>And the maximum revenue 29660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7879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8DE47-737E-7ABB-8E72-C4F9A5CC3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3358" y="1943244"/>
            <a:ext cx="9069423" cy="545123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Arial Black" panose="020B0A04020102020204" pitchFamily="34" charset="0"/>
              </a:rPr>
              <a:t>PAYMENT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5A13F-159A-2370-BD93-29611F246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104" y="2793167"/>
            <a:ext cx="9837634" cy="3082977"/>
          </a:xfrm>
        </p:spPr>
        <p:txBody>
          <a:bodyPr>
            <a:normAutofit/>
          </a:bodyPr>
          <a:lstStyle/>
          <a:p>
            <a:r>
              <a:rPr lang="en-US" dirty="0"/>
              <a:t>The total transaction counts for each payment method are as follows:</a:t>
            </a:r>
          </a:p>
          <a:p>
            <a:pPr lvl="1"/>
            <a:r>
              <a:rPr lang="en-US" dirty="0"/>
              <a:t>Credit Card: </a:t>
            </a:r>
            <a:r>
              <a:rPr lang="en-IN" dirty="0"/>
              <a:t>969384</a:t>
            </a:r>
            <a:r>
              <a:rPr lang="en-US" dirty="0"/>
              <a:t> transactions</a:t>
            </a:r>
          </a:p>
          <a:p>
            <a:pPr lvl="1"/>
            <a:r>
              <a:rPr lang="en-US" dirty="0"/>
              <a:t>Cash:  </a:t>
            </a:r>
            <a:r>
              <a:rPr lang="en-IN" dirty="0"/>
              <a:t>995141 </a:t>
            </a:r>
            <a:r>
              <a:rPr lang="en-US" dirty="0"/>
              <a:t>transactions</a:t>
            </a:r>
          </a:p>
          <a:p>
            <a:pPr lvl="1"/>
            <a:r>
              <a:rPr lang="en-US" dirty="0"/>
              <a:t> Debit Card: </a:t>
            </a:r>
            <a:r>
              <a:rPr lang="en-IN" dirty="0"/>
              <a:t>929376</a:t>
            </a:r>
            <a:r>
              <a:rPr lang="en-US" dirty="0"/>
              <a:t> transactions</a:t>
            </a:r>
          </a:p>
          <a:p>
            <a:pPr lvl="1"/>
            <a:r>
              <a:rPr lang="en-US" dirty="0"/>
              <a:t>Bank Transfer: </a:t>
            </a:r>
            <a:r>
              <a:rPr lang="en-IN" dirty="0"/>
              <a:t>876926 </a:t>
            </a:r>
            <a:r>
              <a:rPr lang="en-US" dirty="0"/>
              <a:t>transactions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  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6302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74817-CC77-B0AE-4819-824DB6B5F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959" y="2048174"/>
            <a:ext cx="8911687" cy="560113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Arial Black" panose="020B0A04020102020204" pitchFamily="34" charset="0"/>
              </a:rPr>
              <a:t>   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B1797-AB3C-8683-112A-956D313C1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4006" y="2328231"/>
            <a:ext cx="8915400" cy="2735754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ClrTx/>
              <a:buSzPts val="1800"/>
              <a:buNone/>
            </a:pPr>
            <a:endParaRPr lang="en-IN" dirty="0"/>
          </a:p>
          <a:p>
            <a:r>
              <a:rPr lang="en-IN" dirty="0"/>
              <a:t>First we checked the information about the dataset , regarding their feature , datatype and null values</a:t>
            </a:r>
          </a:p>
          <a:p>
            <a:r>
              <a:rPr lang="en-IN" dirty="0"/>
              <a:t>Check the unique features</a:t>
            </a:r>
          </a:p>
          <a:p>
            <a:r>
              <a:rPr lang="en-IN" dirty="0"/>
              <a:t>Checked the duplicated for the features</a:t>
            </a:r>
          </a:p>
          <a:p>
            <a:r>
              <a:rPr lang="en-IN" dirty="0"/>
              <a:t>Group by the data and calculate the  sales and visualize the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0277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6A9F5-E868-7FDC-D55D-6C8B79098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524" y="729041"/>
            <a:ext cx="6476125" cy="485162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WORKFLOW OF DATA ANALYSIS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5D1CCAA-36D8-450E-C3B8-534643B601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3389112"/>
              </p:ext>
            </p:extLst>
          </p:nvPr>
        </p:nvGraphicFramePr>
        <p:xfrm>
          <a:off x="3113841" y="1658251"/>
          <a:ext cx="7394264" cy="49074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0576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E8BF56-B416-AB94-7D40-1360E8AF403D}"/>
              </a:ext>
            </a:extLst>
          </p:cNvPr>
          <p:cNvSpPr txBox="1"/>
          <p:nvPr/>
        </p:nvSpPr>
        <p:spPr>
          <a:xfrm>
            <a:off x="2353456" y="949803"/>
            <a:ext cx="5171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1.COLLECTION OF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E101D6-144C-E744-C7F4-895E52D0946A}"/>
              </a:ext>
            </a:extLst>
          </p:cNvPr>
          <p:cNvSpPr txBox="1"/>
          <p:nvPr/>
        </p:nvSpPr>
        <p:spPr>
          <a:xfrm>
            <a:off x="3417757" y="1573968"/>
            <a:ext cx="70753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This data collected from Kaggle and checking their rows and columns , null values.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Downloaded in CSV format.</a:t>
            </a:r>
          </a:p>
          <a:p>
            <a:r>
              <a:rPr lang="en-IN" dirty="0"/>
              <a:t>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382CF8-68A1-4BDA-7A71-DE28DF8A4655}"/>
              </a:ext>
            </a:extLst>
          </p:cNvPr>
          <p:cNvSpPr txBox="1"/>
          <p:nvPr/>
        </p:nvSpPr>
        <p:spPr>
          <a:xfrm>
            <a:off x="2353456" y="3029130"/>
            <a:ext cx="6700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2.</a:t>
            </a:r>
            <a:r>
              <a:rPr lang="en-US" dirty="0">
                <a:latin typeface="Arial Black" panose="020B0A04020102020204" pitchFamily="34" charset="0"/>
              </a:rPr>
              <a:t>UNDERSTANDING DATA AND BUSINESS PROBLEM</a:t>
            </a:r>
            <a:endParaRPr lang="en-IN" dirty="0">
              <a:latin typeface="Corbel" panose="020B050302020402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12A445-C750-A34A-CEBB-92069EE8B995}"/>
              </a:ext>
            </a:extLst>
          </p:cNvPr>
          <p:cNvSpPr txBox="1"/>
          <p:nvPr/>
        </p:nvSpPr>
        <p:spPr>
          <a:xfrm>
            <a:off x="2983043" y="3923118"/>
            <a:ext cx="90840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The dataset includes customers personal details like 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customer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id,country</a:t>
            </a:r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Century Gothic" panose="020B0502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it contains product details like 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brand name ,model ,storage ,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color,price_usd,revenue_usd,sale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month,sale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year.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Century Gothic" panose="020B0502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Payment details like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payment method.</a:t>
            </a:r>
            <a:endParaRPr lang="en-IN" dirty="0">
              <a:latin typeface="Century Gothic" panose="020B0502020202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4264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F87F13-11EC-78E5-1D5A-51B555BBC3F2}"/>
              </a:ext>
            </a:extLst>
          </p:cNvPr>
          <p:cNvSpPr txBox="1"/>
          <p:nvPr/>
        </p:nvSpPr>
        <p:spPr>
          <a:xfrm>
            <a:off x="2008682" y="1004341"/>
            <a:ext cx="3057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3.DATA CLEANING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910E42-D394-DD78-30DF-9A6273DC6A4A}"/>
              </a:ext>
            </a:extLst>
          </p:cNvPr>
          <p:cNvSpPr txBox="1"/>
          <p:nvPr/>
        </p:nvSpPr>
        <p:spPr>
          <a:xfrm>
            <a:off x="3537678" y="1673477"/>
            <a:ext cx="6505731" cy="1990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Checked missing values using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data.isnull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().sum()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Checked duplicate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Sale_ID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Dataset found clean and ready for analysis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Checked rows and columns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           ( Rows =500 , Columns=13 )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A1D704-E0F4-AB87-769D-051E15EAA182}"/>
              </a:ext>
            </a:extLst>
          </p:cNvPr>
          <p:cNvSpPr txBox="1"/>
          <p:nvPr/>
        </p:nvSpPr>
        <p:spPr>
          <a:xfrm>
            <a:off x="2008682" y="3963569"/>
            <a:ext cx="4287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4.DATA TRANSFORMATION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FCA13-B31F-749C-1C1A-040415883EC7}"/>
              </a:ext>
            </a:extLst>
          </p:cNvPr>
          <p:cNvSpPr txBox="1"/>
          <p:nvPr/>
        </p:nvSpPr>
        <p:spPr>
          <a:xfrm>
            <a:off x="3537678" y="4632705"/>
            <a:ext cx="76449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dirty="0" err="1"/>
              <a:t>Deataset</a:t>
            </a:r>
            <a:r>
              <a:rPr lang="en-IN" dirty="0"/>
              <a:t> prepared for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Features made easier to understand and compare.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Ready for visualization and further analysis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8191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CA933-423D-2CDE-7153-B6A4C9A40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1881" y="2823917"/>
            <a:ext cx="9069424" cy="605083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5.DATA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4823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87CB4-8969-C574-62BE-D026A5173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475" y="1969665"/>
            <a:ext cx="5202722" cy="530575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Arial Black" panose="020B0A04020102020204" pitchFamily="34" charset="0"/>
              </a:rPr>
              <a:t>AVERAGE MOBILE PRICE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3F09C-14DF-8C65-C819-E6090631E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6600" y="2971799"/>
            <a:ext cx="8915400" cy="914401"/>
          </a:xfrm>
        </p:spPr>
        <p:txBody>
          <a:bodyPr/>
          <a:lstStyle/>
          <a:p>
            <a:r>
              <a:rPr lang="en-IN" dirty="0"/>
              <a:t>Calculated average mobile price using mean().</a:t>
            </a:r>
          </a:p>
          <a:p>
            <a:r>
              <a:rPr lang="en-IN" dirty="0"/>
              <a:t>Helps understand market pricing trend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986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5B2672-668F-C181-00D8-55B423817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EDD21E1-BAF0-4314-AB31-82ECB8AC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BEFCE4-F230-C5EA-14F5-6D69E5147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28" y="335200"/>
            <a:ext cx="5122652" cy="1259894"/>
          </a:xfrm>
        </p:spPr>
        <p:txBody>
          <a:bodyPr>
            <a:norm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AVERAGE PRICE BY BRAND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C8619C-F25D-468E-95FA-2A2151D7D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70006-34C5-C0EA-104D-FA309EF15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5122652" cy="375925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Oneplus</a:t>
            </a:r>
            <a:r>
              <a:rPr lang="en-US" dirty="0"/>
              <a:t> has the highest </a:t>
            </a:r>
            <a:r>
              <a:rPr lang="en-US" dirty="0" err="1"/>
              <a:t>averageprice,indicatind</a:t>
            </a:r>
            <a:r>
              <a:rPr lang="en-US" dirty="0"/>
              <a:t> it offers more premium devices in the dataset.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Apple,Samsung</a:t>
            </a:r>
            <a:r>
              <a:rPr lang="en-US" dirty="0"/>
              <a:t> and Huawei also have high average </a:t>
            </a:r>
            <a:r>
              <a:rPr lang="en-US" dirty="0" err="1"/>
              <a:t>prices,showing</a:t>
            </a:r>
            <a:r>
              <a:rPr lang="en-US" dirty="0"/>
              <a:t> they compete in the premium segment.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Realme has the lowest average price ,suggesting </a:t>
            </a:r>
            <a:r>
              <a:rPr lang="en-US" dirty="0" err="1"/>
              <a:t>ts</a:t>
            </a:r>
            <a:r>
              <a:rPr lang="en-US" dirty="0"/>
              <a:t> focusing on budget friendly smartphones.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Brands like </a:t>
            </a:r>
            <a:r>
              <a:rPr lang="en-IN" dirty="0"/>
              <a:t>Xiaomi, Vivo, and Google  fall into mid </a:t>
            </a:r>
            <a:r>
              <a:rPr lang="en-IN" dirty="0" err="1"/>
              <a:t>rangepricing</a:t>
            </a:r>
            <a:r>
              <a:rPr lang="en-IN" dirty="0"/>
              <a:t> </a:t>
            </a:r>
            <a:r>
              <a:rPr lang="en-IN" dirty="0" err="1"/>
              <a:t>catagory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77608E-7201-A0F6-6659-6BE2740EC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125" y="1449454"/>
            <a:ext cx="5350024" cy="4306769"/>
          </a:xfrm>
          <a:prstGeom prst="rect">
            <a:avLst/>
          </a:prstGeom>
        </p:spPr>
      </p:pic>
      <p:sp>
        <p:nvSpPr>
          <p:cNvPr id="32" name="Freeform 12">
            <a:extLst>
              <a:ext uri="{FF2B5EF4-FFF2-40B4-BE49-F238E27FC236}">
                <a16:creationId xmlns:a16="http://schemas.microsoft.com/office/drawing/2014/main" id="{7D9439D6-DEAD-4CEB-A61B-BE3D64D1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17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5E52C3-E818-CB9C-6216-C584833F5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DD21E1-BAF0-4314-AB31-82ECB8AC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DE85D-49C6-C3D0-2151-C69541971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5122652" cy="12598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800">
                <a:latin typeface="Arial Black" panose="020B0A04020102020204" pitchFamily="34" charset="0"/>
              </a:rPr>
              <a:t>BRAND PERFORMANCE ANALYSIS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C8619C-F25D-468E-95FA-2A2151D7D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7E738-2BD6-7D01-935C-3253CE595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5122652" cy="3759253"/>
          </a:xfrm>
        </p:spPr>
        <p:txBody>
          <a:bodyPr>
            <a:normAutofit fontScale="92500"/>
          </a:bodyPr>
          <a:lstStyle/>
          <a:p>
            <a:r>
              <a:rPr lang="en-IN" dirty="0"/>
              <a:t>Vivo has the highest total sales, making it in the top selling brand in the data analysis.</a:t>
            </a:r>
          </a:p>
          <a:p>
            <a:r>
              <a:rPr lang="en-IN" dirty="0"/>
              <a:t>Oppo and </a:t>
            </a:r>
            <a:r>
              <a:rPr lang="en-IN" dirty="0" err="1"/>
              <a:t>motorolaalso</a:t>
            </a:r>
            <a:r>
              <a:rPr lang="en-IN" dirty="0"/>
              <a:t> show strong sales performance, closely following the top position.</a:t>
            </a:r>
          </a:p>
          <a:p>
            <a:r>
              <a:rPr lang="en-IN" dirty="0"/>
              <a:t>Google, Huawei, Xiaomi and </a:t>
            </a:r>
            <a:r>
              <a:rPr lang="en-IN" dirty="0" err="1"/>
              <a:t>samsung</a:t>
            </a:r>
            <a:r>
              <a:rPr lang="en-IN" dirty="0"/>
              <a:t> have moderate and consistent sales.</a:t>
            </a:r>
          </a:p>
          <a:p>
            <a:r>
              <a:rPr lang="en-IN" dirty="0" err="1"/>
              <a:t>Oneplus</a:t>
            </a:r>
            <a:r>
              <a:rPr lang="en-IN" dirty="0"/>
              <a:t> has the lowest unit sold ,suggest a small market share compared to others.</a:t>
            </a:r>
          </a:p>
          <a:p>
            <a:r>
              <a:rPr lang="en-IN" dirty="0"/>
              <a:t>Most brands fall within a similar sales range, indicating strong </a:t>
            </a:r>
            <a:r>
              <a:rPr lang="en-IN" dirty="0" err="1"/>
              <a:t>competion</a:t>
            </a:r>
            <a:r>
              <a:rPr lang="en-IN" dirty="0"/>
              <a:t> in the market.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821F5E-D39D-9236-F78F-FA1DECAB3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916" y="1885629"/>
            <a:ext cx="5451627" cy="2766700"/>
          </a:xfrm>
          <a:prstGeom prst="rect">
            <a:avLst/>
          </a:prstGeom>
        </p:spPr>
      </p:pic>
      <p:sp>
        <p:nvSpPr>
          <p:cNvPr id="16" name="Freeform 12">
            <a:extLst>
              <a:ext uri="{FF2B5EF4-FFF2-40B4-BE49-F238E27FC236}">
                <a16:creationId xmlns:a16="http://schemas.microsoft.com/office/drawing/2014/main" id="{7D9439D6-DEAD-4CEB-A61B-BE3D64D1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4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CB4D67-F6FA-1BF4-1490-3F743A9A6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491B121-12B5-4977-A064-636AB0B9B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0A1821-DA30-0F6E-BA81-51322A7BD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6574536" cy="1259894"/>
          </a:xfrm>
        </p:spPr>
        <p:txBody>
          <a:bodyPr>
            <a:normAutofit/>
          </a:bodyPr>
          <a:lstStyle/>
          <a:p>
            <a:r>
              <a:rPr lang="en-IN">
                <a:latin typeface="Arial Black" panose="020B0A04020102020204" pitchFamily="34" charset="0"/>
              </a:rPr>
              <a:t>COUNTRY WISE SALES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D05F70-AB3E-4472-B26B-EFE6A5A59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D8E0B-DD69-2EEF-8F47-94A0B538B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2133600"/>
            <a:ext cx="6574535" cy="3759253"/>
          </a:xfrm>
        </p:spPr>
        <p:txBody>
          <a:bodyPr>
            <a:normAutofit/>
          </a:bodyPr>
          <a:lstStyle/>
          <a:p>
            <a:r>
              <a:rPr lang="en-IN" dirty="0"/>
              <a:t>Australia (13.1%) has the highest sales share , making it the leading market.</a:t>
            </a:r>
            <a:endParaRPr lang="en-US" dirty="0"/>
          </a:p>
          <a:p>
            <a:r>
              <a:rPr lang="en-US" dirty="0"/>
              <a:t>USA (12.4%) and </a:t>
            </a:r>
            <a:r>
              <a:rPr lang="en-US" dirty="0" err="1"/>
              <a:t>india</a:t>
            </a:r>
            <a:r>
              <a:rPr lang="en-US" dirty="0"/>
              <a:t> (10.7%)</a:t>
            </a:r>
            <a:r>
              <a:rPr lang="en-IN" dirty="0"/>
              <a:t> also contribute significantly to total sales.</a:t>
            </a:r>
          </a:p>
          <a:p>
            <a:r>
              <a:rPr lang="en-IN" dirty="0"/>
              <a:t>UAE (10.8%) and France (10.6%) show balanced and strong performance.</a:t>
            </a:r>
          </a:p>
          <a:p>
            <a:r>
              <a:rPr lang="en-IN" dirty="0"/>
              <a:t>UK (9.2%) and Pakistan (9.5%) have moderate contribution.</a:t>
            </a:r>
          </a:p>
          <a:p>
            <a:r>
              <a:rPr lang="en-IN" dirty="0" err="1"/>
              <a:t>Geramany</a:t>
            </a:r>
            <a:r>
              <a:rPr lang="en-IN" dirty="0"/>
              <a:t> (8.2%) , Canada (7.9%) and Saudi </a:t>
            </a:r>
            <a:r>
              <a:rPr lang="en-IN" dirty="0" err="1"/>
              <a:t>arabia</a:t>
            </a:r>
            <a:r>
              <a:rPr lang="en-IN" dirty="0"/>
              <a:t> (7.6%) have the lowest shares among the listed countries.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3879E1-A9FC-CC9C-20C2-81E91A041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208" y="1491386"/>
            <a:ext cx="4413979" cy="3875227"/>
          </a:xfrm>
          <a:prstGeom prst="rect">
            <a:avLst/>
          </a:prstGeom>
        </p:spPr>
      </p:pic>
      <p:sp>
        <p:nvSpPr>
          <p:cNvPr id="22" name="Freeform 11">
            <a:extLst>
              <a:ext uri="{FF2B5EF4-FFF2-40B4-BE49-F238E27FC236}">
                <a16:creationId xmlns:a16="http://schemas.microsoft.com/office/drawing/2014/main" id="{21F6BE39-9E37-45F0-B10C-92305CFB7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277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4EDFD-2881-6655-B76F-496B91665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6353-8EDB-C8FC-ADAA-69A9707FC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8256" y="640080"/>
            <a:ext cx="3650279" cy="12598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800" dirty="0">
                <a:latin typeface="Arial Black" panose="020B0A04020102020204" pitchFamily="34" charset="0"/>
              </a:rPr>
              <a:t>TOTAL REVENUE BY BRAND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B281-7FB5-2D1B-F5D7-11BD4FB97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 dirty="0"/>
              <a:t>Grouped data by Brand and summed revenue USD </a:t>
            </a:r>
          </a:p>
          <a:p>
            <a:r>
              <a:rPr lang="en-US" dirty="0"/>
              <a:t>Bar chart used to show distribution</a:t>
            </a:r>
            <a:endParaRPr lang="en-IN" dirty="0"/>
          </a:p>
          <a:p>
            <a:r>
              <a:rPr lang="en-IN" dirty="0"/>
              <a:t>In this chart apple has the highest revenue by brand.</a:t>
            </a:r>
          </a:p>
          <a:p>
            <a:r>
              <a:rPr lang="en-IN" dirty="0"/>
              <a:t>Which takes the revenue of 4725525</a:t>
            </a:r>
          </a:p>
          <a:p>
            <a:r>
              <a:rPr lang="en-IN" dirty="0"/>
              <a:t>Highest revenue of top5 brands are </a:t>
            </a:r>
            <a:r>
              <a:rPr lang="en-IN" b="1" dirty="0"/>
              <a:t>Apple</a:t>
            </a:r>
            <a:r>
              <a:rPr lang="en-IN" dirty="0"/>
              <a:t>,</a:t>
            </a:r>
            <a:r>
              <a:rPr lang="en-IN" b="1" dirty="0"/>
              <a:t> Google, Huawei, Motorola, OnePlus.</a:t>
            </a:r>
          </a:p>
          <a:p>
            <a:endParaRPr lang="en-IN" b="1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E0659D-C6A3-5892-6DCB-BED00AD32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535" y="965147"/>
            <a:ext cx="6484904" cy="525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666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F300E-A27B-6D80-457A-1A5FF6A23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491B121-12B5-4977-A064-636AB0B9B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8B1566-54ED-4A54-7E97-BE476D3F4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6574536" cy="1259894"/>
          </a:xfrm>
        </p:spPr>
        <p:txBody>
          <a:bodyPr>
            <a:norm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MONTHLY SALES TREND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D05F70-AB3E-4472-B26B-EFE6A5A59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F5BAC3-B605-D81C-E5E1-2C9BB43D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2133600"/>
            <a:ext cx="6574535" cy="375925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dirty="0"/>
              <a:t>Sales peak in month 6 (540 units) , making it in the highest </a:t>
            </a:r>
            <a:r>
              <a:rPr lang="en-IN" dirty="0" err="1"/>
              <a:t>permorming</a:t>
            </a:r>
            <a:r>
              <a:rPr lang="en-IN" dirty="0"/>
              <a:t> in the month.</a:t>
            </a:r>
          </a:p>
          <a:p>
            <a:r>
              <a:rPr lang="en-IN" dirty="0"/>
              <a:t>Month 3 and month 11also show strong </a:t>
            </a:r>
            <a:r>
              <a:rPr lang="en-IN" dirty="0" err="1"/>
              <a:t>sales,close</a:t>
            </a:r>
            <a:r>
              <a:rPr lang="en-IN" dirty="0"/>
              <a:t> to 500 units.</a:t>
            </a:r>
          </a:p>
          <a:p>
            <a:r>
              <a:rPr lang="en-IN" dirty="0"/>
              <a:t>The </a:t>
            </a:r>
            <a:r>
              <a:rPr lang="en-IN" dirty="0" err="1"/>
              <a:t>lowestsales</a:t>
            </a:r>
            <a:r>
              <a:rPr lang="en-IN" dirty="0"/>
              <a:t> occur in month 5 (310 units) ,indicating a </a:t>
            </a:r>
            <a:r>
              <a:rPr lang="en-IN" dirty="0" err="1"/>
              <a:t>significating</a:t>
            </a:r>
            <a:r>
              <a:rPr lang="en-IN" dirty="0"/>
              <a:t> dip.</a:t>
            </a:r>
          </a:p>
          <a:p>
            <a:r>
              <a:rPr lang="en-IN" dirty="0"/>
              <a:t>Sales fluctuate throughout the </a:t>
            </a:r>
            <a:r>
              <a:rPr lang="en-IN" dirty="0" err="1"/>
              <a:t>year,showing</a:t>
            </a:r>
            <a:r>
              <a:rPr lang="en-IN" dirty="0"/>
              <a:t> a non linear trend.</a:t>
            </a:r>
          </a:p>
          <a:p>
            <a:r>
              <a:rPr lang="en-IN" dirty="0"/>
              <a:t>Mid year months generally show higher sales compared to early months.</a:t>
            </a:r>
          </a:p>
          <a:p>
            <a:r>
              <a:rPr lang="en-IN" dirty="0"/>
              <a:t>The chart highlights seasonal variation in sales performance.</a:t>
            </a:r>
            <a:endParaRPr dirty="0"/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21F6BE39-9E37-45F0-B10C-92305CFB7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316FCA-1EF0-3FD7-DC9D-4C1084F0BF46}"/>
              </a:ext>
            </a:extLst>
          </p:cNvPr>
          <p:cNvSpPr txBox="1">
            <a:spLocks/>
          </p:cNvSpPr>
          <p:nvPr/>
        </p:nvSpPr>
        <p:spPr>
          <a:xfrm>
            <a:off x="3786206" y="5510903"/>
            <a:ext cx="6212234" cy="939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ADC841-A03E-14C6-C950-B1070C5FB4BD}"/>
              </a:ext>
            </a:extLst>
          </p:cNvPr>
          <p:cNvSpPr txBox="1">
            <a:spLocks/>
          </p:cNvSpPr>
          <p:nvPr/>
        </p:nvSpPr>
        <p:spPr>
          <a:xfrm>
            <a:off x="2721905" y="5620351"/>
            <a:ext cx="6167264" cy="864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F5C167-A989-7595-5D03-985724E96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759" y="1630085"/>
            <a:ext cx="4530892" cy="359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809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165DB1-71FF-561F-3A8B-C87E69D76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C2865CD-8D8B-5C5E-2B99-2774645BF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D4BCA4-E059-AB90-C71F-3E5206820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6574536" cy="1259894"/>
          </a:xfrm>
        </p:spPr>
        <p:txBody>
          <a:bodyPr>
            <a:norm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STORAGE DISTRIBUTION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DB3809-920F-D0A7-55BA-621C90BD3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88A716D-BF7E-85C3-6829-9118AE37A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2133600"/>
            <a:ext cx="6574535" cy="375925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256gb has the highest sales, making it  the most preferred storage option.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128gb and 512gb also show strong demand, with similar  sales figure.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64gb has the lowest sales, indicating lower customer  preferences.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Customers seem to prefer mid to high storage variants over basic ones.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This suggests users prefer better performance and more space for apps , media, And files.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Business can focus more on 128gb and 256gb models to maximize sales.</a:t>
            </a:r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27F9A6A3-F3DB-0930-DE8F-15E9704BF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98629DF-81A4-AB32-5133-A63EC2DB5D3A}"/>
              </a:ext>
            </a:extLst>
          </p:cNvPr>
          <p:cNvSpPr txBox="1">
            <a:spLocks/>
          </p:cNvSpPr>
          <p:nvPr/>
        </p:nvSpPr>
        <p:spPr>
          <a:xfrm>
            <a:off x="3786206" y="5510903"/>
            <a:ext cx="6212234" cy="939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577B066-961B-11F9-BE5C-47904BAB1FF2}"/>
              </a:ext>
            </a:extLst>
          </p:cNvPr>
          <p:cNvSpPr txBox="1">
            <a:spLocks/>
          </p:cNvSpPr>
          <p:nvPr/>
        </p:nvSpPr>
        <p:spPr>
          <a:xfrm>
            <a:off x="2721905" y="5620351"/>
            <a:ext cx="6167264" cy="864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D7172C-93DA-72DD-884C-FD8ED9AF6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039" y="2055160"/>
            <a:ext cx="4415488" cy="33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77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28BC7D-FD34-4E3C-28E0-DB177FAA1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07032-5F61-2DFA-4699-66F860AA9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700">
                <a:latin typeface="Arial Black" panose="020B0A04020102020204" pitchFamily="34" charset="0"/>
              </a:rPr>
              <a:t>TOTAL REVENUE PAYMENT METHOD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27F651-DFF6-E313-9D47-AFAA90E09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3371" y="1785257"/>
            <a:ext cx="4862286" cy="4448633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solidFill>
                  <a:srgbClr val="000000"/>
                </a:solidFill>
              </a:rPr>
              <a:t>Cash generates a highest revenue, making it the most preferred payment method.</a:t>
            </a:r>
          </a:p>
          <a:p>
            <a:r>
              <a:rPr lang="en-IN" dirty="0">
                <a:solidFill>
                  <a:srgbClr val="000000"/>
                </a:solidFill>
              </a:rPr>
              <a:t>Credit card and debit card follow, showing strong but slightly slower contributions.</a:t>
            </a:r>
          </a:p>
          <a:p>
            <a:r>
              <a:rPr lang="en-IN" dirty="0">
                <a:solidFill>
                  <a:srgbClr val="000000"/>
                </a:solidFill>
              </a:rPr>
              <a:t>Online payment shows noticeable drop in revenue compared to traditional methods.</a:t>
            </a:r>
          </a:p>
          <a:p>
            <a:r>
              <a:rPr lang="en-IN" dirty="0" err="1">
                <a:solidFill>
                  <a:srgbClr val="000000"/>
                </a:solidFill>
              </a:rPr>
              <a:t>Installments</a:t>
            </a:r>
            <a:r>
              <a:rPr lang="en-IN" dirty="0">
                <a:solidFill>
                  <a:srgbClr val="000000"/>
                </a:solidFill>
              </a:rPr>
              <a:t> generates the lowest revenue compared o traditional  methods.</a:t>
            </a:r>
          </a:p>
          <a:p>
            <a:r>
              <a:rPr lang="en-IN" dirty="0">
                <a:solidFill>
                  <a:srgbClr val="000000"/>
                </a:solidFill>
              </a:rPr>
              <a:t>Traditional payments methods like cash and cards dominate revenue, while digital and </a:t>
            </a:r>
            <a:r>
              <a:rPr lang="en-IN" dirty="0" err="1">
                <a:solidFill>
                  <a:srgbClr val="000000"/>
                </a:solidFill>
              </a:rPr>
              <a:t>Installment</a:t>
            </a:r>
            <a:r>
              <a:rPr lang="en-IN" dirty="0">
                <a:solidFill>
                  <a:srgbClr val="000000"/>
                </a:solidFill>
              </a:rPr>
              <a:t>  options are less utilized in this dataset.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2D956B-B4EB-2332-1CA8-68312EF2C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917" y="1217457"/>
            <a:ext cx="4996998" cy="3797718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21B9493-7CEC-DC08-71C6-5560F8EB31AA}"/>
              </a:ext>
            </a:extLst>
          </p:cNvPr>
          <p:cNvSpPr txBox="1">
            <a:spLocks/>
          </p:cNvSpPr>
          <p:nvPr/>
        </p:nvSpPr>
        <p:spPr>
          <a:xfrm>
            <a:off x="3786206" y="5510903"/>
            <a:ext cx="6212234" cy="939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E3D39D-0F70-B676-0110-0695EA13937F}"/>
              </a:ext>
            </a:extLst>
          </p:cNvPr>
          <p:cNvSpPr txBox="1">
            <a:spLocks/>
          </p:cNvSpPr>
          <p:nvPr/>
        </p:nvSpPr>
        <p:spPr>
          <a:xfrm>
            <a:off x="2721905" y="5620351"/>
            <a:ext cx="6167264" cy="864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40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934B3B-A343-A65C-83AF-4630330B0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02FD1B1-0000-0CAB-B21D-AFFE1D7DB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7BF56B-7975-53EF-11CC-0AB4E279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6574536" cy="1259894"/>
          </a:xfrm>
        </p:spPr>
        <p:txBody>
          <a:bodyPr>
            <a:normAutofit/>
          </a:bodyPr>
          <a:lstStyle/>
          <a:p>
            <a:r>
              <a:rPr lang="en-IN">
                <a:latin typeface="Arial Black" panose="020B0A04020102020204" pitchFamily="34" charset="0"/>
              </a:rPr>
              <a:t>AVERAGE RATING BY BRAND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7B57FC-5A6D-D9CB-EC9E-D81BE2D23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DB8332F-9166-1D71-5BEC-1467B1883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2133600"/>
            <a:ext cx="6574535" cy="37592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 </a:t>
            </a:r>
          </a:p>
          <a:p>
            <a:r>
              <a:rPr lang="en-IN" dirty="0"/>
              <a:t>All brands have ratings  close to 4, indicating generally good  customer satisfaction.</a:t>
            </a:r>
          </a:p>
          <a:p>
            <a:r>
              <a:rPr lang="en-IN" dirty="0"/>
              <a:t>Huawei and Xiaomi appear to have slightly higher ratings compared to others.</a:t>
            </a:r>
          </a:p>
          <a:p>
            <a:r>
              <a:rPr lang="en-IN" dirty="0"/>
              <a:t>Apple has a slightly lower rating compared to the rest, but still remains to close to 4.</a:t>
            </a:r>
          </a:p>
          <a:p>
            <a:r>
              <a:rPr lang="en-IN" dirty="0"/>
              <a:t>Brands like   Samsung, Realme and Oppo show consistent and competitive ratings.</a:t>
            </a:r>
          </a:p>
          <a:p>
            <a:r>
              <a:rPr lang="en-IN" dirty="0"/>
              <a:t>Overall, the difference in ratings among brands is very small, suggesting that most smartphones brands provide a similar level of user satisfaction.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5FD3AC-2359-A83F-0024-4CB0EBC1D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088" y="1671421"/>
            <a:ext cx="3981455" cy="3195117"/>
          </a:xfrm>
          <a:prstGeom prst="rect">
            <a:avLst/>
          </a:prstGeom>
        </p:spPr>
      </p:pic>
      <p:sp>
        <p:nvSpPr>
          <p:cNvPr id="18" name="Freeform 11">
            <a:extLst>
              <a:ext uri="{FF2B5EF4-FFF2-40B4-BE49-F238E27FC236}">
                <a16:creationId xmlns:a16="http://schemas.microsoft.com/office/drawing/2014/main" id="{1EF39A7D-7A94-5BAB-9C87-343EF22D4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C94490-FC5F-D48A-F91D-B6AFFA62452E}"/>
              </a:ext>
            </a:extLst>
          </p:cNvPr>
          <p:cNvSpPr txBox="1">
            <a:spLocks/>
          </p:cNvSpPr>
          <p:nvPr/>
        </p:nvSpPr>
        <p:spPr>
          <a:xfrm>
            <a:off x="3786206" y="5510903"/>
            <a:ext cx="6212234" cy="939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E89EF06-310A-FC01-F5FF-975FF9E3BFEE}"/>
              </a:ext>
            </a:extLst>
          </p:cNvPr>
          <p:cNvSpPr txBox="1">
            <a:spLocks/>
          </p:cNvSpPr>
          <p:nvPr/>
        </p:nvSpPr>
        <p:spPr>
          <a:xfrm>
            <a:off x="2721905" y="5620351"/>
            <a:ext cx="6167264" cy="864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8882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586CF1-7DCB-2533-84F5-10420A9B3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142C1-72B8-C326-2FC0-D7FA74474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700" dirty="0">
                <a:latin typeface="Arial Black" panose="020B0A04020102020204" pitchFamily="34" charset="0"/>
              </a:rPr>
              <a:t>COUNTRY WISE BRAND SALES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8221C9-DF96-33A1-FD09-0C8C47414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2634" y="1538144"/>
            <a:ext cx="4140772" cy="491214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Comparison of smartphone sales across different countries</a:t>
            </a:r>
          </a:p>
          <a:p>
            <a:r>
              <a:rPr lang="en-US" dirty="0"/>
              <a:t>Each bar represents a country</a:t>
            </a:r>
            <a:endParaRPr lang="en-IN" dirty="0"/>
          </a:p>
          <a:p>
            <a:r>
              <a:rPr lang="en-US" b="1" dirty="0"/>
              <a:t>USA and Australia</a:t>
            </a:r>
            <a:r>
              <a:rPr lang="en-US" dirty="0"/>
              <a:t> have the </a:t>
            </a:r>
            <a:r>
              <a:rPr lang="en-US" b="1" dirty="0"/>
              <a:t>highest total sales</a:t>
            </a:r>
          </a:p>
          <a:p>
            <a:r>
              <a:rPr lang="en-US" b="1" dirty="0"/>
              <a:t>Saudi Arabia and Canada</a:t>
            </a:r>
            <a:r>
              <a:rPr lang="en-US" dirty="0"/>
              <a:t> show comparatively </a:t>
            </a:r>
            <a:r>
              <a:rPr lang="en-US" b="1" dirty="0"/>
              <a:t>lower sales</a:t>
            </a:r>
          </a:p>
          <a:p>
            <a:r>
              <a:rPr lang="en-US" dirty="0"/>
              <a:t>Apple has strong performance in </a:t>
            </a:r>
            <a:r>
              <a:rPr lang="en-US" b="1" dirty="0"/>
              <a:t>Australia, USA, and UK</a:t>
            </a:r>
          </a:p>
          <a:p>
            <a:r>
              <a:rPr lang="en-US" dirty="0"/>
              <a:t>Samsung shows </a:t>
            </a:r>
            <a:r>
              <a:rPr lang="en-US" b="1" dirty="0"/>
              <a:t>consistent sales across all countries</a:t>
            </a:r>
          </a:p>
          <a:p>
            <a:r>
              <a:rPr lang="en-US" dirty="0"/>
              <a:t>Xiaomi and Vivo perform well in </a:t>
            </a:r>
            <a:r>
              <a:rPr lang="en-US" b="1" dirty="0"/>
              <a:t>India and Asian markets</a:t>
            </a:r>
          </a:p>
          <a:p>
            <a:r>
              <a:rPr lang="en-US" dirty="0"/>
              <a:t>OnePlus shows a noticeable spike in </a:t>
            </a:r>
            <a:r>
              <a:rPr lang="en-US" b="1" dirty="0"/>
              <a:t>Pakistan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3730F3C-C9E2-EBEE-AD33-AEA07169BEE7}"/>
              </a:ext>
            </a:extLst>
          </p:cNvPr>
          <p:cNvSpPr txBox="1">
            <a:spLocks/>
          </p:cNvSpPr>
          <p:nvPr/>
        </p:nvSpPr>
        <p:spPr>
          <a:xfrm>
            <a:off x="3786206" y="5510903"/>
            <a:ext cx="6212234" cy="939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3ABAB99-A70F-CD9A-CF04-0BA774B8A005}"/>
              </a:ext>
            </a:extLst>
          </p:cNvPr>
          <p:cNvSpPr txBox="1">
            <a:spLocks/>
          </p:cNvSpPr>
          <p:nvPr/>
        </p:nvSpPr>
        <p:spPr>
          <a:xfrm>
            <a:off x="2721905" y="5620351"/>
            <a:ext cx="6167264" cy="864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FECBCD-6044-3CFC-9F9A-BCD6D01C2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006" y="976547"/>
            <a:ext cx="5818325" cy="5353362"/>
          </a:xfrm>
          <a:prstGeom prst="rect">
            <a:avLst/>
          </a:prstGeom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F9D52B55-B4E6-55B8-D65F-228A3C99D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9030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8A38C1-5C19-9B61-AE88-08BCAB229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B3F2001-B5AF-7E86-D5A4-F8E796BC1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956" y="728076"/>
            <a:ext cx="4741325" cy="831962"/>
          </a:xfrm>
        </p:spPr>
        <p:txBody>
          <a:bodyPr>
            <a:normAutofit/>
          </a:bodyPr>
          <a:lstStyle/>
          <a:p>
            <a:r>
              <a:rPr lang="en-IN" sz="2700" dirty="0">
                <a:latin typeface="Arial Black" panose="020B0A04020102020204" pitchFamily="34" charset="0"/>
              </a:rPr>
              <a:t>UNITS SOLD BY COLOR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E4E2BD5-2EAC-DD76-C942-A5E58700F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5820" y="1984271"/>
            <a:ext cx="4140771" cy="3996324"/>
          </a:xfrm>
        </p:spPr>
        <p:txBody>
          <a:bodyPr>
            <a:normAutofit/>
          </a:bodyPr>
          <a:lstStyle/>
          <a:p>
            <a:r>
              <a:rPr lang="en-US" dirty="0"/>
              <a:t>Analysis of smartphone sales based on color preference </a:t>
            </a:r>
          </a:p>
          <a:p>
            <a:r>
              <a:rPr lang="en-US" dirty="0"/>
              <a:t>Colors included: Black, Blue, Gold, Green, Silver, White</a:t>
            </a:r>
            <a:endParaRPr lang="en-IN" dirty="0"/>
          </a:p>
          <a:p>
            <a:r>
              <a:rPr lang="en-US" dirty="0"/>
              <a:t>Focus more production on </a:t>
            </a:r>
            <a:r>
              <a:rPr lang="en-US" b="1" dirty="0"/>
              <a:t>Gold, Blue, and Silver models</a:t>
            </a:r>
            <a:endParaRPr lang="en-IN" b="1" dirty="0"/>
          </a:p>
          <a:p>
            <a:r>
              <a:rPr lang="en-US" dirty="0"/>
              <a:t>Introduce </a:t>
            </a:r>
            <a:r>
              <a:rPr lang="en-US" b="1" dirty="0"/>
              <a:t>new trendy colors</a:t>
            </a:r>
            <a:r>
              <a:rPr lang="en-US" dirty="0"/>
              <a:t> to attract younger customers</a:t>
            </a:r>
          </a:p>
          <a:p>
            <a:r>
              <a:rPr lang="en-US" dirty="0"/>
              <a:t>Reduce inventory of </a:t>
            </a:r>
            <a:r>
              <a:rPr lang="en-US" b="1" dirty="0"/>
              <a:t>low-demand colors (Black &amp; White)</a:t>
            </a:r>
            <a:r>
              <a:rPr lang="en-US" dirty="0"/>
              <a:t> </a:t>
            </a:r>
          </a:p>
          <a:p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342FEA-CB23-BBAD-D8AC-4143441F9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274" y="1864027"/>
            <a:ext cx="5451627" cy="426589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8BF8CA3-43CA-5C7D-C551-0A5198B23FC6}"/>
              </a:ext>
            </a:extLst>
          </p:cNvPr>
          <p:cNvSpPr txBox="1">
            <a:spLocks/>
          </p:cNvSpPr>
          <p:nvPr/>
        </p:nvSpPr>
        <p:spPr>
          <a:xfrm>
            <a:off x="3786206" y="5510903"/>
            <a:ext cx="6212234" cy="939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7E6901-0C2E-3380-34A8-814234982035}"/>
              </a:ext>
            </a:extLst>
          </p:cNvPr>
          <p:cNvSpPr txBox="1">
            <a:spLocks/>
          </p:cNvSpPr>
          <p:nvPr/>
        </p:nvSpPr>
        <p:spPr>
          <a:xfrm>
            <a:off x="2741095" y="5275451"/>
            <a:ext cx="6167264" cy="864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92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AD9FBC-DBDA-FEA2-6D31-E89677250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373E0-4BE8-16A3-6569-E7442C65F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485" y="570157"/>
            <a:ext cx="3650279" cy="12598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800" dirty="0">
                <a:latin typeface="Arial Black" panose="020B0A04020102020204" pitchFamily="34" charset="0"/>
              </a:rPr>
              <a:t>AVERAGE UNIT SOLD PER BRAND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5E47D-E6FF-B50D-C1F2-9A2108F96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8485" y="2400994"/>
            <a:ext cx="4338258" cy="3261848"/>
          </a:xfrm>
        </p:spPr>
        <p:txBody>
          <a:bodyPr>
            <a:normAutofit/>
          </a:bodyPr>
          <a:lstStyle/>
          <a:p>
            <a:r>
              <a:rPr lang="en-IN" b="1" dirty="0"/>
              <a:t>Analysis of average </a:t>
            </a:r>
            <a:r>
              <a:rPr lang="en-IN" b="1" dirty="0" err="1"/>
              <a:t>smaetphones</a:t>
            </a:r>
            <a:r>
              <a:rPr lang="en-IN" b="1" dirty="0"/>
              <a:t> sales across different brands.</a:t>
            </a:r>
          </a:p>
          <a:p>
            <a:r>
              <a:rPr lang="en-IN" b="1" dirty="0"/>
              <a:t>The different between brands is small</a:t>
            </a:r>
          </a:p>
          <a:p>
            <a:r>
              <a:rPr lang="en-IN" b="1" dirty="0"/>
              <a:t>Indicates the competitive </a:t>
            </a:r>
            <a:r>
              <a:rPr lang="en-IN" b="1" dirty="0" err="1"/>
              <a:t>marketswith</a:t>
            </a:r>
            <a:r>
              <a:rPr lang="en-IN" b="1" dirty="0"/>
              <a:t> similar demand levels</a:t>
            </a:r>
          </a:p>
          <a:p>
            <a:r>
              <a:rPr lang="en-IN" b="1" dirty="0"/>
              <a:t>No brand has extreme dominance.</a:t>
            </a:r>
          </a:p>
          <a:p>
            <a:pPr marL="0" indent="0">
              <a:buNone/>
            </a:pPr>
            <a:endParaRPr lang="en-IN" b="1" dirty="0"/>
          </a:p>
          <a:p>
            <a:endParaRPr lang="en-IN" b="1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A88127-3ADD-A632-790D-39104AB85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573576"/>
            <a:ext cx="5557459" cy="4487647"/>
          </a:xfrm>
          <a:prstGeom prst="rect">
            <a:avLst/>
          </a:prstGeom>
        </p:spPr>
      </p:pic>
      <p:sp>
        <p:nvSpPr>
          <p:cNvPr id="22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A2183382-C515-DB29-16D4-BCEA48462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36420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636083C7-7085-5454-E0BD-678B7076F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651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83EC7-523A-C578-64AF-996491FC7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60C1196-E2FC-9717-1216-54F1620EB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956" y="728076"/>
            <a:ext cx="4741325" cy="831962"/>
          </a:xfrm>
        </p:spPr>
        <p:txBody>
          <a:bodyPr>
            <a:normAutofit fontScale="90000"/>
          </a:bodyPr>
          <a:lstStyle/>
          <a:p>
            <a:r>
              <a:rPr lang="en-IN" sz="2700" dirty="0">
                <a:latin typeface="Arial Black" panose="020B0A04020102020204" pitchFamily="34" charset="0"/>
              </a:rPr>
              <a:t>TOP 5 MODELS BY REVENUE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30B1F1-C07D-CC62-6D5E-4C7608C06665}"/>
              </a:ext>
            </a:extLst>
          </p:cNvPr>
          <p:cNvSpPr txBox="1">
            <a:spLocks/>
          </p:cNvSpPr>
          <p:nvPr/>
        </p:nvSpPr>
        <p:spPr>
          <a:xfrm>
            <a:off x="3786206" y="5510903"/>
            <a:ext cx="6212234" cy="939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74526B-9A52-C383-F33E-4A86B02D7CE3}"/>
              </a:ext>
            </a:extLst>
          </p:cNvPr>
          <p:cNvSpPr txBox="1">
            <a:spLocks/>
          </p:cNvSpPr>
          <p:nvPr/>
        </p:nvSpPr>
        <p:spPr>
          <a:xfrm>
            <a:off x="2882133" y="5642854"/>
            <a:ext cx="6167264" cy="864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40B363-82DC-AA1D-24EF-05C407ED7A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845" y="1144057"/>
            <a:ext cx="5306405" cy="4632576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3C7962F5-CB64-86A0-9570-D52F664BC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37702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2F5D3FB-26D2-5876-3E14-BB59FD00A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893" y="2491154"/>
            <a:ext cx="4957916" cy="4366846"/>
          </a:xfrm>
        </p:spPr>
        <p:txBody>
          <a:bodyPr/>
          <a:lstStyle/>
          <a:p>
            <a:r>
              <a:rPr lang="en-IN" dirty="0"/>
              <a:t>Analysis of highest revenue generating models from apple</a:t>
            </a:r>
          </a:p>
          <a:p>
            <a:r>
              <a:rPr lang="en-IN" dirty="0"/>
              <a:t>Focus on promoting latest models  (model 13)</a:t>
            </a:r>
          </a:p>
          <a:p>
            <a:r>
              <a:rPr lang="en-IN" dirty="0"/>
              <a:t>Gradually phase out  older models</a:t>
            </a:r>
          </a:p>
          <a:p>
            <a:r>
              <a:rPr lang="en-IN" dirty="0"/>
              <a:t>Invest in innovation and upgrades to maintain growth</a:t>
            </a:r>
          </a:p>
        </p:txBody>
      </p:sp>
    </p:spTree>
    <p:extLst>
      <p:ext uri="{BB962C8B-B14F-4D97-AF65-F5344CB8AC3E}">
        <p14:creationId xmlns:p14="http://schemas.microsoft.com/office/powerpoint/2010/main" val="1469744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A0072-38D8-C825-D337-F69BCEB47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916B8-B879-59A8-636E-63F7EEA11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129" y="1493541"/>
            <a:ext cx="2460284" cy="402080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Arial Black" panose="020B0A04020102020204" pitchFamily="34" charset="0"/>
              </a:rPr>
              <a:t>FINAL INSIGHTS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EAF14-9F3A-74C2-B978-45555C937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3802" y="2180434"/>
            <a:ext cx="10368198" cy="4370268"/>
          </a:xfrm>
        </p:spPr>
        <p:txBody>
          <a:bodyPr>
            <a:normAutofit/>
          </a:bodyPr>
          <a:lstStyle/>
          <a:p>
            <a:r>
              <a:rPr lang="en-US" dirty="0"/>
              <a:t>The total revenue across all sales amounted to $1,180,314.99.</a:t>
            </a:r>
          </a:p>
          <a:p>
            <a:r>
              <a:rPr lang="en-US" dirty="0"/>
              <a:t>The average price per item sold was approximately $50.17.</a:t>
            </a:r>
          </a:p>
          <a:p>
            <a:r>
              <a:rPr lang="en-US" dirty="0"/>
              <a:t>'Apple' is the top-selling brand by unit volume (2,428 units), followed closely by 'Samsung' (2,130 units) and 'Sony' (1,939 units).</a:t>
            </a:r>
          </a:p>
          <a:p>
            <a:r>
              <a:rPr lang="en-US" dirty="0"/>
              <a:t>'Apple' also leads in revenue generation, contributing $226,381.18, with 'Samsung' and 'Sony' following at $205,373.91 and $185,550.84, respectively.</a:t>
            </a:r>
          </a:p>
          <a:p>
            <a:r>
              <a:rPr lang="en-US" dirty="0"/>
              <a:t>'Credit Card' and 'PayPal' are the most dominant payment methods, each accounting for nearly 39% of transactions, while 'Debit Card' covers about 23%.</a:t>
            </a:r>
          </a:p>
          <a:p>
            <a:r>
              <a:rPr lang="en-US" dirty="0"/>
              <a:t>Data analysis helps businesses understand market trends and improve decision making</a:t>
            </a: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/>
              <a:t>  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3761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42670C-220E-F243-973A-5C55BB86205D}"/>
              </a:ext>
            </a:extLst>
          </p:cNvPr>
          <p:cNvSpPr txBox="1"/>
          <p:nvPr/>
        </p:nvSpPr>
        <p:spPr>
          <a:xfrm>
            <a:off x="4871804" y="2905780"/>
            <a:ext cx="54114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THANK</a:t>
            </a:r>
            <a:r>
              <a:rPr lang="en-IN" sz="2800" dirty="0">
                <a:latin typeface="Arial Black" panose="020B0A04020102020204" pitchFamily="34" charset="0"/>
              </a:rPr>
              <a:t> </a:t>
            </a:r>
            <a:r>
              <a:rPr lang="en-IN" sz="2800" dirty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79205296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520</TotalTime>
  <Words>1273</Words>
  <Application>Microsoft Office PowerPoint</Application>
  <PresentationFormat>Widescreen</PresentationFormat>
  <Paragraphs>160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</vt:lpstr>
      <vt:lpstr>Arial</vt:lpstr>
      <vt:lpstr>Arial Black</vt:lpstr>
      <vt:lpstr>Cascadia Code</vt:lpstr>
      <vt:lpstr>Century Gothic</vt:lpstr>
      <vt:lpstr>Corbel</vt:lpstr>
      <vt:lpstr>Wingdings</vt:lpstr>
      <vt:lpstr>Wingdings 3</vt:lpstr>
      <vt:lpstr>Wisp</vt:lpstr>
      <vt:lpstr>PowerPoint Presentation</vt:lpstr>
      <vt:lpstr>DESCRIPTION ABOUT DATA</vt:lpstr>
      <vt:lpstr>REVENUE ANALYSIS</vt:lpstr>
      <vt:lpstr>PAYMENT METHOD</vt:lpstr>
      <vt:lpstr>    PROCESS</vt:lpstr>
      <vt:lpstr>WORKFLOW OF DATA ANALYSIS</vt:lpstr>
      <vt:lpstr>PowerPoint Presentation</vt:lpstr>
      <vt:lpstr>PowerPoint Presentation</vt:lpstr>
      <vt:lpstr>5.DATA VISUALIZATION</vt:lpstr>
      <vt:lpstr>AVERAGE MOBILE PRICE</vt:lpstr>
      <vt:lpstr>AVERAGE PRICE BY BRAND</vt:lpstr>
      <vt:lpstr>BRAND PERFORMANCE ANALYSIS</vt:lpstr>
      <vt:lpstr>COUNTRY WISE SALES</vt:lpstr>
      <vt:lpstr>TOTAL REVENUE BY BRAND</vt:lpstr>
      <vt:lpstr>MONTHLY SALES TREND</vt:lpstr>
      <vt:lpstr>STORAGE DISTRIBUTION</vt:lpstr>
      <vt:lpstr>TOTAL REVENUE PAYMENT METHOD</vt:lpstr>
      <vt:lpstr>AVERAGE RATING BY BRAND</vt:lpstr>
      <vt:lpstr>COUNTRY WISE BRAND SALES</vt:lpstr>
      <vt:lpstr>UNITS SOLD BY COLOR</vt:lpstr>
      <vt:lpstr>AVERAGE UNIT SOLD PER BRAND</vt:lpstr>
      <vt:lpstr>TOP 5 MODELS BY REVENUE</vt:lpstr>
      <vt:lpstr>FINAL INSIGHTS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ssathish50397@gmail.com</dc:creator>
  <cp:lastModifiedBy>ssathish50397@gmail.com</cp:lastModifiedBy>
  <cp:revision>2</cp:revision>
  <dcterms:created xsi:type="dcterms:W3CDTF">2026-03-07T05:22:13Z</dcterms:created>
  <dcterms:modified xsi:type="dcterms:W3CDTF">2026-04-10T06:27:10Z</dcterms:modified>
</cp:coreProperties>
</file>